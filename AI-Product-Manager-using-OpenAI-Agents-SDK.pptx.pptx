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19"/>
    </p:embeddedFont>
    <p:embeddedFont>
      <p:font typeface="Inter" charset="1" panose="02000503000000020004"/>
      <p:regular r:id="rId20"/>
    </p:embeddedFont>
    <p:embeddedFont>
      <p:font typeface="Arimo Bold" charset="1" panose="020B07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jpe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 Id="rId4" Target="../media/image5.jpe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5.jpe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0.png" Type="http://schemas.openxmlformats.org/officeDocument/2006/relationships/image"/><Relationship Id="rId2" Target="../notesSlides/notesSlide4.xml" Type="http://schemas.openxmlformats.org/officeDocument/2006/relationships/notesSlide"/><Relationship Id="rId3" Target="../media/image5.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1.jpeg" Type="http://schemas.openxmlformats.org/officeDocument/2006/relationships/image"/><Relationship Id="rId4"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jpe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 Id="rId7" Target="../media/image26.jpeg" Type="http://schemas.openxmlformats.org/officeDocument/2006/relationships/image"/><Relationship Id="rId8" Target="../media/image27.jpe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9.png" Type="http://schemas.openxmlformats.org/officeDocument/2006/relationships/image"/><Relationship Id="rId4" Target="../media/image30.sv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jpe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42.png" Type="http://schemas.openxmlformats.org/officeDocument/2006/relationships/image"/><Relationship Id="rId2" Target="../notesSlides/notesSlide9.xml" Type="http://schemas.openxmlformats.org/officeDocument/2006/relationships/notesSlid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jpeg" Type="http://schemas.openxmlformats.org/officeDocument/2006/relationships/image"/><Relationship Id="rId4" Target="../media/image4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92238" y="1581445"/>
            <a:ext cx="3687213" cy="377133"/>
            <a:chOff x="0" y="0"/>
            <a:chExt cx="4916284" cy="502844"/>
          </a:xfrm>
        </p:grpSpPr>
        <p:sp>
          <p:nvSpPr>
            <p:cNvPr name="Freeform 11" id="11"/>
            <p:cNvSpPr/>
            <p:nvPr/>
          </p:nvSpPr>
          <p:spPr>
            <a:xfrm flipH="false" flipV="false" rot="0">
              <a:off x="0" y="0"/>
              <a:ext cx="4916170" cy="502793"/>
            </a:xfrm>
            <a:custGeom>
              <a:avLst/>
              <a:gdLst/>
              <a:ahLst/>
              <a:cxnLst/>
              <a:rect r="r" b="b" t="t" l="l"/>
              <a:pathLst>
                <a:path h="502793" w="4916170">
                  <a:moveTo>
                    <a:pt x="0" y="238125"/>
                  </a:moveTo>
                  <a:cubicBezTo>
                    <a:pt x="0" y="106680"/>
                    <a:pt x="106680" y="0"/>
                    <a:pt x="238125" y="0"/>
                  </a:cubicBezTo>
                  <a:lnTo>
                    <a:pt x="4678045" y="0"/>
                  </a:lnTo>
                  <a:cubicBezTo>
                    <a:pt x="4809617" y="0"/>
                    <a:pt x="4916170" y="106680"/>
                    <a:pt x="4916170" y="238125"/>
                  </a:cubicBezTo>
                  <a:lnTo>
                    <a:pt x="4916170" y="264668"/>
                  </a:lnTo>
                  <a:cubicBezTo>
                    <a:pt x="4916170" y="396240"/>
                    <a:pt x="4809490" y="502793"/>
                    <a:pt x="4678045" y="502793"/>
                  </a:cubicBezTo>
                  <a:lnTo>
                    <a:pt x="238125" y="502793"/>
                  </a:lnTo>
                  <a:cubicBezTo>
                    <a:pt x="106680" y="502793"/>
                    <a:pt x="0" y="396240"/>
                    <a:pt x="0" y="264668"/>
                  </a:cubicBezTo>
                  <a:close/>
                </a:path>
              </a:pathLst>
            </a:custGeom>
            <a:solidFill>
              <a:srgbClr val="FFD7CC"/>
            </a:solidFill>
          </p:spPr>
        </p:sp>
      </p:grpSp>
      <p:sp>
        <p:nvSpPr>
          <p:cNvPr name="TextBox 12" id="12"/>
          <p:cNvSpPr txBox="true"/>
          <p:nvPr/>
        </p:nvSpPr>
        <p:spPr>
          <a:xfrm rot="0">
            <a:off x="1141066" y="1646339"/>
            <a:ext cx="4303957" cy="237830"/>
          </a:xfrm>
          <a:prstGeom prst="rect">
            <a:avLst/>
          </a:prstGeom>
        </p:spPr>
        <p:txBody>
          <a:bodyPr anchor="t" rtlCol="false" tIns="0" lIns="0" bIns="0" rIns="0">
            <a:spAutoFit/>
          </a:bodyPr>
          <a:lstStyle/>
          <a:p>
            <a:pPr algn="l">
              <a:lnSpc>
                <a:spcPts val="1727"/>
              </a:lnSpc>
            </a:pPr>
            <a:r>
              <a:rPr lang="en-US" sz="1500">
                <a:solidFill>
                  <a:srgbClr val="55575A"/>
                </a:solidFill>
                <a:latin typeface="Arimo"/>
                <a:ea typeface="Arimo"/>
                <a:cs typeface="Arimo"/>
                <a:sym typeface="Arimo"/>
              </a:rPr>
              <a:t>UNIVERSITY CERTIFICATION PROJECT</a:t>
            </a:r>
          </a:p>
        </p:txBody>
      </p:sp>
      <p:sp>
        <p:nvSpPr>
          <p:cNvPr name="TextBox 13" id="13"/>
          <p:cNvSpPr txBox="true"/>
          <p:nvPr/>
        </p:nvSpPr>
        <p:spPr>
          <a:xfrm rot="0">
            <a:off x="992238" y="2038645"/>
            <a:ext cx="9445523" cy="1569244"/>
          </a:xfrm>
          <a:prstGeom prst="rect">
            <a:avLst/>
          </a:prstGeom>
        </p:spPr>
        <p:txBody>
          <a:bodyPr anchor="t" rtlCol="false" tIns="0" lIns="0" bIns="0" rIns="0">
            <a:spAutoFit/>
          </a:bodyPr>
          <a:lstStyle/>
          <a:p>
            <a:pPr algn="l">
              <a:lnSpc>
                <a:spcPts val="5990"/>
              </a:lnSpc>
            </a:pPr>
            <a:r>
              <a:rPr lang="en-US" sz="4800">
                <a:solidFill>
                  <a:srgbClr val="0C0D0F"/>
                </a:solidFill>
                <a:latin typeface="Inter"/>
                <a:ea typeface="Inter"/>
                <a:cs typeface="Inter"/>
                <a:sym typeface="Inter"/>
              </a:rPr>
              <a:t>AI Product Manager using OpenAI Agents SDK</a:t>
            </a:r>
          </a:p>
        </p:txBody>
      </p:sp>
      <p:sp>
        <p:nvSpPr>
          <p:cNvPr name="TextBox 14" id="14"/>
          <p:cNvSpPr txBox="true"/>
          <p:nvPr/>
        </p:nvSpPr>
        <p:spPr>
          <a:xfrm rot="0">
            <a:off x="992238" y="3894239"/>
            <a:ext cx="9445523" cy="1133170"/>
          </a:xfrm>
          <a:prstGeom prst="rect">
            <a:avLst/>
          </a:prstGeom>
        </p:spPr>
        <p:txBody>
          <a:bodyPr anchor="t" rtlCol="false" tIns="0" lIns="0" bIns="0" rIns="0">
            <a:spAutoFit/>
          </a:bodyPr>
          <a:lstStyle/>
          <a:p>
            <a:pPr algn="l">
              <a:lnSpc>
                <a:spcPts val="3032"/>
              </a:lnSpc>
            </a:pPr>
            <a:r>
              <a:rPr lang="en-US" sz="1900">
                <a:solidFill>
                  <a:srgbClr val="55575A"/>
                </a:solidFill>
                <a:latin typeface="Arimo"/>
                <a:ea typeface="Arimo"/>
                <a:cs typeface="Arimo"/>
                <a:sym typeface="Arimo"/>
              </a:rPr>
              <a:t>A Multi-Agent AI System that automates product management workflows — from customer feedback analysis to sprint planning — through intelligent agent collaboration.</a:t>
            </a:r>
          </a:p>
          <a:p>
            <a:pPr algn="l">
              <a:lnSpc>
                <a:spcPts val="3032"/>
              </a:lnSpc>
            </a:pPr>
            <a:r>
              <a:rPr lang="en-US" sz="1900" b="true">
                <a:solidFill>
                  <a:srgbClr val="55575A"/>
                </a:solidFill>
                <a:latin typeface="Arimo Bold"/>
                <a:ea typeface="Arimo Bold"/>
                <a:cs typeface="Arimo Bold"/>
                <a:sym typeface="Arimo Bold"/>
              </a:rPr>
              <a:t>Student:</a:t>
            </a:r>
            <a:r>
              <a:rPr lang="en-US" sz="1900">
                <a:solidFill>
                  <a:srgbClr val="55575A"/>
                </a:solidFill>
                <a:latin typeface="Arimo"/>
                <a:ea typeface="Arimo"/>
                <a:cs typeface="Arimo"/>
                <a:sym typeface="Arimo"/>
              </a:rPr>
              <a:t> Pritam Chhetri | </a:t>
            </a:r>
            <a:r>
              <a:rPr lang="en-US" sz="1900" b="true">
                <a:solidFill>
                  <a:srgbClr val="55575A"/>
                </a:solidFill>
                <a:latin typeface="Arimo Bold"/>
                <a:ea typeface="Arimo Bold"/>
                <a:cs typeface="Arimo Bold"/>
                <a:sym typeface="Arimo Bold"/>
              </a:rPr>
              <a:t>Course: </a:t>
            </a:r>
            <a:r>
              <a:rPr lang="en-US" sz="1900">
                <a:solidFill>
                  <a:srgbClr val="55575A"/>
                </a:solidFill>
                <a:latin typeface="Arimo"/>
                <a:ea typeface="Arimo"/>
                <a:cs typeface="Arimo"/>
                <a:sym typeface="Arimo"/>
              </a:rPr>
              <a:t>Summer Internship IIT JAMU</a:t>
            </a:r>
          </a:p>
        </p:txBody>
      </p:sp>
      <p:grpSp>
        <p:nvGrpSpPr>
          <p:cNvPr name="Group 15" id="15"/>
          <p:cNvGrpSpPr/>
          <p:nvPr/>
        </p:nvGrpSpPr>
        <p:grpSpPr>
          <a:xfrm rot="0">
            <a:off x="992238" y="6125766"/>
            <a:ext cx="9445523" cy="2579637"/>
            <a:chOff x="0" y="0"/>
            <a:chExt cx="12594031" cy="3439516"/>
          </a:xfrm>
        </p:grpSpPr>
        <p:sp>
          <p:nvSpPr>
            <p:cNvPr name="Freeform 16" id="16"/>
            <p:cNvSpPr/>
            <p:nvPr/>
          </p:nvSpPr>
          <p:spPr>
            <a:xfrm flipH="false" flipV="false" rot="0">
              <a:off x="0" y="0"/>
              <a:ext cx="12593955" cy="3439541"/>
            </a:xfrm>
            <a:custGeom>
              <a:avLst/>
              <a:gdLst/>
              <a:ahLst/>
              <a:cxnLst/>
              <a:rect r="r" b="b" t="t" l="l"/>
              <a:pathLst>
                <a:path h="3439541" w="12593955">
                  <a:moveTo>
                    <a:pt x="0" y="297688"/>
                  </a:moveTo>
                  <a:cubicBezTo>
                    <a:pt x="0" y="133350"/>
                    <a:pt x="133350" y="0"/>
                    <a:pt x="297688" y="0"/>
                  </a:cubicBezTo>
                  <a:lnTo>
                    <a:pt x="12296267" y="0"/>
                  </a:lnTo>
                  <a:cubicBezTo>
                    <a:pt x="12460732" y="0"/>
                    <a:pt x="12593955" y="133350"/>
                    <a:pt x="12593955" y="297688"/>
                  </a:cubicBezTo>
                  <a:lnTo>
                    <a:pt x="12593955" y="3141853"/>
                  </a:lnTo>
                  <a:cubicBezTo>
                    <a:pt x="12593955" y="3306318"/>
                    <a:pt x="12460605" y="3439541"/>
                    <a:pt x="12296267" y="3439541"/>
                  </a:cubicBezTo>
                  <a:lnTo>
                    <a:pt x="297688" y="3439541"/>
                  </a:lnTo>
                  <a:cubicBezTo>
                    <a:pt x="133350" y="3439541"/>
                    <a:pt x="0" y="3306191"/>
                    <a:pt x="0" y="3141853"/>
                  </a:cubicBezTo>
                  <a:close/>
                </a:path>
              </a:pathLst>
            </a:custGeom>
            <a:solidFill>
              <a:srgbClr val="FFD7CC"/>
            </a:solidFill>
          </p:spPr>
        </p:sp>
      </p:grpSp>
      <p:grpSp>
        <p:nvGrpSpPr>
          <p:cNvPr name="Group 17" id="17"/>
          <p:cNvGrpSpPr/>
          <p:nvPr/>
        </p:nvGrpSpPr>
        <p:grpSpPr>
          <a:xfrm rot="0">
            <a:off x="1240184" y="6485334"/>
            <a:ext cx="310010" cy="247945"/>
            <a:chOff x="0" y="0"/>
            <a:chExt cx="413347" cy="330594"/>
          </a:xfrm>
        </p:grpSpPr>
        <p:sp>
          <p:nvSpPr>
            <p:cNvPr name="Freeform 18" id="18"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6"/>
              <a:stretch>
                <a:fillRect l="0" t="-1148" r="9" b="-1152"/>
              </a:stretch>
            </a:blipFill>
          </p:spPr>
        </p:sp>
      </p:grpSp>
      <p:sp>
        <p:nvSpPr>
          <p:cNvPr name="TextBox 19" id="19"/>
          <p:cNvSpPr txBox="true"/>
          <p:nvPr/>
        </p:nvSpPr>
        <p:spPr>
          <a:xfrm rot="0">
            <a:off x="1519161" y="6647555"/>
            <a:ext cx="8391677" cy="1514170"/>
          </a:xfrm>
          <a:prstGeom prst="rect">
            <a:avLst/>
          </a:prstGeom>
        </p:spPr>
        <p:txBody>
          <a:bodyPr anchor="t" rtlCol="false" tIns="0" lIns="0" bIns="0" rIns="0">
            <a:spAutoFit/>
          </a:bodyPr>
          <a:lstStyle/>
          <a:p>
            <a:pPr algn="l">
              <a:lnSpc>
                <a:spcPts val="3032"/>
              </a:lnSpc>
            </a:pPr>
            <a:r>
              <a:rPr lang="en-US" sz="1900" b="true">
                <a:solidFill>
                  <a:srgbClr val="000000"/>
                </a:solidFill>
                <a:latin typeface="Arimo Bold"/>
                <a:ea typeface="Arimo Bold"/>
                <a:cs typeface="Arimo Bold"/>
                <a:sym typeface="Arimo Bold"/>
              </a:rPr>
              <a:t>Speaker Notes:</a:t>
            </a:r>
            <a:r>
              <a:rPr lang="en-US" sz="1900">
                <a:solidFill>
                  <a:srgbClr val="000000"/>
                </a:solidFill>
                <a:latin typeface="Arimo"/>
                <a:ea typeface="Arimo"/>
                <a:cs typeface="Arimo"/>
                <a:sym typeface="Arimo"/>
              </a:rPr>
              <a:t> This project demonstrates how the OpenAI Agents SDK enables multi-agent collaboration to automate complex product management workflows. The presentation will cover the problem, architecture, agents, tools, memory management, and results.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845476" y="768991"/>
            <a:ext cx="2096986" cy="345281"/>
            <a:chOff x="0" y="0"/>
            <a:chExt cx="2795981" cy="460375"/>
          </a:xfrm>
        </p:grpSpPr>
        <p:sp>
          <p:nvSpPr>
            <p:cNvPr name="Freeform 9" id="9"/>
            <p:cNvSpPr/>
            <p:nvPr/>
          </p:nvSpPr>
          <p:spPr>
            <a:xfrm flipH="false" flipV="false" rot="0">
              <a:off x="0" y="0"/>
              <a:ext cx="2796032" cy="460502"/>
            </a:xfrm>
            <a:custGeom>
              <a:avLst/>
              <a:gdLst/>
              <a:ahLst/>
              <a:cxnLst/>
              <a:rect r="r" b="b" t="t" l="l"/>
              <a:pathLst>
                <a:path h="460502" w="2796032">
                  <a:moveTo>
                    <a:pt x="0" y="218186"/>
                  </a:moveTo>
                  <a:cubicBezTo>
                    <a:pt x="0" y="97663"/>
                    <a:pt x="97663" y="0"/>
                    <a:pt x="218186" y="0"/>
                  </a:cubicBezTo>
                  <a:lnTo>
                    <a:pt x="2577846" y="0"/>
                  </a:lnTo>
                  <a:cubicBezTo>
                    <a:pt x="2698369" y="0"/>
                    <a:pt x="2796032" y="97663"/>
                    <a:pt x="2796032" y="218186"/>
                  </a:cubicBezTo>
                  <a:lnTo>
                    <a:pt x="2796032" y="242316"/>
                  </a:lnTo>
                  <a:cubicBezTo>
                    <a:pt x="2796032" y="362839"/>
                    <a:pt x="2698369" y="460502"/>
                    <a:pt x="2577846" y="460502"/>
                  </a:cubicBezTo>
                  <a:lnTo>
                    <a:pt x="218186" y="460502"/>
                  </a:lnTo>
                  <a:cubicBezTo>
                    <a:pt x="97663" y="460375"/>
                    <a:pt x="0" y="362712"/>
                    <a:pt x="0" y="242189"/>
                  </a:cubicBezTo>
                  <a:close/>
                </a:path>
              </a:pathLst>
            </a:custGeom>
            <a:blipFill>
              <a:blip r:embed="rId4">
                <a:alphaModFix amt="0"/>
              </a:blip>
              <a:stretch>
                <a:fillRect l="0" t="-68319" r="1" b="-68291"/>
              </a:stretch>
            </a:blipFill>
            <a:ln w="9526" cap="sq">
              <a:solidFill>
                <a:srgbClr val="FF7047"/>
              </a:solidFill>
              <a:prstDash val="solid"/>
              <a:miter/>
            </a:ln>
          </p:spPr>
        </p:sp>
      </p:grpSp>
      <p:sp>
        <p:nvSpPr>
          <p:cNvPr name="TextBox 10" id="10"/>
          <p:cNvSpPr txBox="true"/>
          <p:nvPr/>
        </p:nvSpPr>
        <p:spPr>
          <a:xfrm rot="0">
            <a:off x="7982693" y="830466"/>
            <a:ext cx="2736952" cy="212827"/>
          </a:xfrm>
          <a:prstGeom prst="rect">
            <a:avLst/>
          </a:prstGeom>
        </p:spPr>
        <p:txBody>
          <a:bodyPr anchor="t" rtlCol="false" tIns="0" lIns="0" bIns="0" rIns="0">
            <a:spAutoFit/>
          </a:bodyPr>
          <a:lstStyle/>
          <a:p>
            <a:pPr algn="l">
              <a:lnSpc>
                <a:spcPts val="1497"/>
              </a:lnSpc>
            </a:pPr>
            <a:r>
              <a:rPr lang="en-US" sz="1300">
                <a:solidFill>
                  <a:srgbClr val="FF7047"/>
                </a:solidFill>
                <a:latin typeface="Arimo"/>
                <a:ea typeface="Arimo"/>
                <a:cs typeface="Arimo"/>
                <a:sym typeface="Arimo"/>
              </a:rPr>
              <a:t>PROBLEM STATEMENT</a:t>
            </a:r>
          </a:p>
        </p:txBody>
      </p:sp>
      <p:sp>
        <p:nvSpPr>
          <p:cNvPr name="TextBox 11" id="11"/>
          <p:cNvSpPr txBox="true"/>
          <p:nvPr/>
        </p:nvSpPr>
        <p:spPr>
          <a:xfrm rot="0">
            <a:off x="7850238" y="1169041"/>
            <a:ext cx="9445523" cy="1400175"/>
          </a:xfrm>
          <a:prstGeom prst="rect">
            <a:avLst/>
          </a:prstGeom>
        </p:spPr>
        <p:txBody>
          <a:bodyPr anchor="t" rtlCol="false" tIns="0" lIns="0" bIns="0" rIns="0">
            <a:spAutoFit/>
          </a:bodyPr>
          <a:lstStyle/>
          <a:p>
            <a:pPr algn="l">
              <a:lnSpc>
                <a:spcPts val="5366"/>
              </a:lnSpc>
            </a:pPr>
            <a:r>
              <a:rPr lang="en-US" sz="4300">
                <a:solidFill>
                  <a:srgbClr val="0C0D0F"/>
                </a:solidFill>
                <a:latin typeface="Inter"/>
                <a:ea typeface="Inter"/>
                <a:cs typeface="Inter"/>
                <a:sym typeface="Inter"/>
              </a:rPr>
              <a:t>The Product Manager's Workload is Overwhelming</a:t>
            </a:r>
          </a:p>
        </p:txBody>
      </p:sp>
      <p:sp>
        <p:nvSpPr>
          <p:cNvPr name="TextBox 12" id="12"/>
          <p:cNvSpPr txBox="true"/>
          <p:nvPr/>
        </p:nvSpPr>
        <p:spPr>
          <a:xfrm rot="0">
            <a:off x="7850238" y="2797673"/>
            <a:ext cx="9445523" cy="1069477"/>
          </a:xfrm>
          <a:prstGeom prst="rect">
            <a:avLst/>
          </a:prstGeom>
        </p:spPr>
        <p:txBody>
          <a:bodyPr anchor="t" rtlCol="false" tIns="0" lIns="0" bIns="0" rIns="0">
            <a:spAutoFit/>
          </a:bodyPr>
          <a:lstStyle/>
          <a:p>
            <a:pPr algn="l">
              <a:lnSpc>
                <a:spcPts val="2570"/>
              </a:lnSpc>
            </a:pPr>
            <a:r>
              <a:rPr lang="en-US" sz="1700">
                <a:solidFill>
                  <a:srgbClr val="55575A"/>
                </a:solidFill>
                <a:latin typeface="Arimo"/>
                <a:ea typeface="Arimo"/>
                <a:cs typeface="Arimo"/>
                <a:sym typeface="Arimo"/>
              </a:rPr>
              <a:t>Product managers juggle multiple high-stakes tasks daily — analyzing customer feedback, researching competitors, prioritizing features, writing PRDs, and planning sprints. These activities consume hours of focused effort and are prone to inconsistency.</a:t>
            </a:r>
          </a:p>
        </p:txBody>
      </p:sp>
      <p:grpSp>
        <p:nvGrpSpPr>
          <p:cNvPr name="Group 13" id="13"/>
          <p:cNvGrpSpPr/>
          <p:nvPr/>
        </p:nvGrpSpPr>
        <p:grpSpPr>
          <a:xfrm rot="0">
            <a:off x="7845476" y="4083691"/>
            <a:ext cx="4633912" cy="1936404"/>
            <a:chOff x="0" y="0"/>
            <a:chExt cx="6178550" cy="2581872"/>
          </a:xfrm>
        </p:grpSpPr>
        <p:sp>
          <p:nvSpPr>
            <p:cNvPr name="Freeform 14" id="14"/>
            <p:cNvSpPr/>
            <p:nvPr/>
          </p:nvSpPr>
          <p:spPr>
            <a:xfrm flipH="false" flipV="false" rot="0">
              <a:off x="0" y="0"/>
              <a:ext cx="6178550" cy="2581910"/>
            </a:xfrm>
            <a:custGeom>
              <a:avLst/>
              <a:gdLst/>
              <a:ahLst/>
              <a:cxnLst/>
              <a:rect r="r" b="b" t="t" l="l"/>
              <a:pathLst>
                <a:path h="2581910" w="6178550">
                  <a:moveTo>
                    <a:pt x="0" y="266446"/>
                  </a:moveTo>
                  <a:cubicBezTo>
                    <a:pt x="0" y="119253"/>
                    <a:pt x="119253" y="0"/>
                    <a:pt x="266446" y="0"/>
                  </a:cubicBezTo>
                  <a:lnTo>
                    <a:pt x="5912104" y="0"/>
                  </a:lnTo>
                  <a:cubicBezTo>
                    <a:pt x="6059297" y="0"/>
                    <a:pt x="6178550" y="119253"/>
                    <a:pt x="6178550" y="266446"/>
                  </a:cubicBezTo>
                  <a:lnTo>
                    <a:pt x="6178550" y="2315464"/>
                  </a:lnTo>
                  <a:cubicBezTo>
                    <a:pt x="6178550" y="2462657"/>
                    <a:pt x="6059297" y="2581910"/>
                    <a:pt x="5912104" y="2581910"/>
                  </a:cubicBezTo>
                  <a:lnTo>
                    <a:pt x="266446" y="2581910"/>
                  </a:lnTo>
                  <a:cubicBezTo>
                    <a:pt x="119253" y="2581910"/>
                    <a:pt x="0" y="2462530"/>
                    <a:pt x="0" y="2315464"/>
                  </a:cubicBezTo>
                  <a:close/>
                </a:path>
              </a:pathLst>
            </a:custGeom>
            <a:solidFill>
              <a:srgbClr val="FFFFFF"/>
            </a:solidFill>
            <a:ln w="9526" cap="sq">
              <a:solidFill>
                <a:srgbClr val="FF7047"/>
              </a:solidFill>
              <a:prstDash val="solid"/>
              <a:miter/>
            </a:ln>
          </p:spPr>
        </p:sp>
      </p:grpSp>
      <p:sp>
        <p:nvSpPr>
          <p:cNvPr name="TextBox 15" id="15"/>
          <p:cNvSpPr txBox="true"/>
          <p:nvPr/>
        </p:nvSpPr>
        <p:spPr>
          <a:xfrm rot="0">
            <a:off x="8080619" y="4309320"/>
            <a:ext cx="4163616" cy="354806"/>
          </a:xfrm>
          <a:prstGeom prst="rect">
            <a:avLst/>
          </a:prstGeom>
        </p:spPr>
        <p:txBody>
          <a:bodyPr anchor="t" rtlCol="false" tIns="0" lIns="0" bIns="0" rIns="0">
            <a:spAutoFit/>
          </a:bodyPr>
          <a:lstStyle/>
          <a:p>
            <a:pPr algn="l">
              <a:lnSpc>
                <a:spcPts val="2620"/>
              </a:lnSpc>
            </a:pPr>
            <a:r>
              <a:rPr lang="en-US" sz="2100">
                <a:solidFill>
                  <a:srgbClr val="000000"/>
                </a:solidFill>
                <a:latin typeface="Inter"/>
                <a:ea typeface="Inter"/>
                <a:cs typeface="Inter"/>
                <a:sym typeface="Inter"/>
              </a:rPr>
              <a:t>⏱</a:t>
            </a:r>
            <a:r>
              <a:rPr lang="en-US" sz="2100">
                <a:solidFill>
                  <a:srgbClr val="55575A"/>
                </a:solidFill>
                <a:latin typeface="Inter"/>
                <a:ea typeface="Inter"/>
                <a:cs typeface="Inter"/>
                <a:sym typeface="Inter"/>
              </a:rPr>
              <a:t> Time-Intensive</a:t>
            </a:r>
          </a:p>
        </p:txBody>
      </p:sp>
      <p:sp>
        <p:nvSpPr>
          <p:cNvPr name="TextBox 16" id="16"/>
          <p:cNvSpPr txBox="true"/>
          <p:nvPr/>
        </p:nvSpPr>
        <p:spPr>
          <a:xfrm rot="0">
            <a:off x="8080619" y="4715475"/>
            <a:ext cx="4163616" cy="1069477"/>
          </a:xfrm>
          <a:prstGeom prst="rect">
            <a:avLst/>
          </a:prstGeom>
        </p:spPr>
        <p:txBody>
          <a:bodyPr anchor="t" rtlCol="false" tIns="0" lIns="0" bIns="0" rIns="0">
            <a:spAutoFit/>
          </a:bodyPr>
          <a:lstStyle/>
          <a:p>
            <a:pPr algn="l">
              <a:lnSpc>
                <a:spcPts val="2570"/>
              </a:lnSpc>
            </a:pPr>
            <a:r>
              <a:rPr lang="en-US" sz="1700">
                <a:solidFill>
                  <a:srgbClr val="55575A"/>
                </a:solidFill>
                <a:latin typeface="Arimo"/>
                <a:ea typeface="Arimo"/>
                <a:cs typeface="Arimo"/>
                <a:sym typeface="Arimo"/>
              </a:rPr>
              <a:t>Manual research and analysis consume significant time that could be spent on strategy.</a:t>
            </a:r>
          </a:p>
        </p:txBody>
      </p:sp>
      <p:grpSp>
        <p:nvGrpSpPr>
          <p:cNvPr name="Group 17" id="17"/>
          <p:cNvGrpSpPr/>
          <p:nvPr/>
        </p:nvGrpSpPr>
        <p:grpSpPr>
          <a:xfrm rot="0">
            <a:off x="12666612" y="4083691"/>
            <a:ext cx="4633912" cy="1936404"/>
            <a:chOff x="0" y="0"/>
            <a:chExt cx="6178550" cy="2581872"/>
          </a:xfrm>
        </p:grpSpPr>
        <p:sp>
          <p:nvSpPr>
            <p:cNvPr name="Freeform 18" id="18"/>
            <p:cNvSpPr/>
            <p:nvPr/>
          </p:nvSpPr>
          <p:spPr>
            <a:xfrm flipH="false" flipV="false" rot="0">
              <a:off x="0" y="0"/>
              <a:ext cx="6178550" cy="2581910"/>
            </a:xfrm>
            <a:custGeom>
              <a:avLst/>
              <a:gdLst/>
              <a:ahLst/>
              <a:cxnLst/>
              <a:rect r="r" b="b" t="t" l="l"/>
              <a:pathLst>
                <a:path h="2581910" w="6178550">
                  <a:moveTo>
                    <a:pt x="0" y="266446"/>
                  </a:moveTo>
                  <a:cubicBezTo>
                    <a:pt x="0" y="119253"/>
                    <a:pt x="119253" y="0"/>
                    <a:pt x="266446" y="0"/>
                  </a:cubicBezTo>
                  <a:lnTo>
                    <a:pt x="5912104" y="0"/>
                  </a:lnTo>
                  <a:cubicBezTo>
                    <a:pt x="6059297" y="0"/>
                    <a:pt x="6178550" y="119253"/>
                    <a:pt x="6178550" y="266446"/>
                  </a:cubicBezTo>
                  <a:lnTo>
                    <a:pt x="6178550" y="2315464"/>
                  </a:lnTo>
                  <a:cubicBezTo>
                    <a:pt x="6178550" y="2462657"/>
                    <a:pt x="6059297" y="2581910"/>
                    <a:pt x="5912104" y="2581910"/>
                  </a:cubicBezTo>
                  <a:lnTo>
                    <a:pt x="266446" y="2581910"/>
                  </a:lnTo>
                  <a:cubicBezTo>
                    <a:pt x="119253" y="2581910"/>
                    <a:pt x="0" y="2462530"/>
                    <a:pt x="0" y="2315464"/>
                  </a:cubicBezTo>
                  <a:close/>
                </a:path>
              </a:pathLst>
            </a:custGeom>
            <a:solidFill>
              <a:srgbClr val="FFFFFF"/>
            </a:solidFill>
            <a:ln w="9526" cap="sq">
              <a:solidFill>
                <a:srgbClr val="FF7047"/>
              </a:solidFill>
              <a:prstDash val="solid"/>
              <a:miter/>
            </a:ln>
          </p:spPr>
        </p:sp>
      </p:grpSp>
      <p:sp>
        <p:nvSpPr>
          <p:cNvPr name="TextBox 19" id="19"/>
          <p:cNvSpPr txBox="true"/>
          <p:nvPr/>
        </p:nvSpPr>
        <p:spPr>
          <a:xfrm rot="0">
            <a:off x="12901765" y="4309320"/>
            <a:ext cx="4163616" cy="354806"/>
          </a:xfrm>
          <a:prstGeom prst="rect">
            <a:avLst/>
          </a:prstGeom>
        </p:spPr>
        <p:txBody>
          <a:bodyPr anchor="t" rtlCol="false" tIns="0" lIns="0" bIns="0" rIns="0">
            <a:spAutoFit/>
          </a:bodyPr>
          <a:lstStyle/>
          <a:p>
            <a:pPr algn="l">
              <a:lnSpc>
                <a:spcPts val="2620"/>
              </a:lnSpc>
            </a:pPr>
            <a:r>
              <a:rPr lang="en-US" sz="2100">
                <a:solidFill>
                  <a:srgbClr val="000000"/>
                </a:solidFill>
                <a:latin typeface="Inter"/>
                <a:ea typeface="Inter"/>
                <a:cs typeface="Inter"/>
                <a:sym typeface="Inter"/>
              </a:rPr>
              <a:t>🔀</a:t>
            </a:r>
            <a:r>
              <a:rPr lang="en-US" sz="2100">
                <a:solidFill>
                  <a:srgbClr val="55575A"/>
                </a:solidFill>
                <a:latin typeface="Inter"/>
                <a:ea typeface="Inter"/>
                <a:cs typeface="Inter"/>
                <a:sym typeface="Inter"/>
              </a:rPr>
              <a:t> Fragmented Tools</a:t>
            </a:r>
          </a:p>
        </p:txBody>
      </p:sp>
      <p:sp>
        <p:nvSpPr>
          <p:cNvPr name="TextBox 20" id="20"/>
          <p:cNvSpPr txBox="true"/>
          <p:nvPr/>
        </p:nvSpPr>
        <p:spPr>
          <a:xfrm rot="0">
            <a:off x="12901765" y="4715475"/>
            <a:ext cx="4163616" cy="735216"/>
          </a:xfrm>
          <a:prstGeom prst="rect">
            <a:avLst/>
          </a:prstGeom>
        </p:spPr>
        <p:txBody>
          <a:bodyPr anchor="t" rtlCol="false" tIns="0" lIns="0" bIns="0" rIns="0">
            <a:spAutoFit/>
          </a:bodyPr>
          <a:lstStyle/>
          <a:p>
            <a:pPr algn="l">
              <a:lnSpc>
                <a:spcPts val="2570"/>
              </a:lnSpc>
            </a:pPr>
            <a:r>
              <a:rPr lang="en-US" sz="1700">
                <a:solidFill>
                  <a:srgbClr val="55575A"/>
                </a:solidFill>
                <a:latin typeface="Arimo"/>
                <a:ea typeface="Arimo"/>
                <a:cs typeface="Arimo"/>
                <a:sym typeface="Arimo"/>
              </a:rPr>
              <a:t>Teams use disconnected tools, leading to information silos and missed insights.</a:t>
            </a:r>
          </a:p>
        </p:txBody>
      </p:sp>
      <p:grpSp>
        <p:nvGrpSpPr>
          <p:cNvPr name="Group 21" id="21"/>
          <p:cNvGrpSpPr/>
          <p:nvPr/>
        </p:nvGrpSpPr>
        <p:grpSpPr>
          <a:xfrm rot="0">
            <a:off x="7845476" y="6207319"/>
            <a:ext cx="9455048" cy="1267873"/>
            <a:chOff x="0" y="0"/>
            <a:chExt cx="12606731" cy="1690497"/>
          </a:xfrm>
        </p:grpSpPr>
        <p:sp>
          <p:nvSpPr>
            <p:cNvPr name="Freeform 22" id="22"/>
            <p:cNvSpPr/>
            <p:nvPr/>
          </p:nvSpPr>
          <p:spPr>
            <a:xfrm flipH="false" flipV="false" rot="0">
              <a:off x="0" y="0"/>
              <a:ext cx="12606782" cy="1690624"/>
            </a:xfrm>
            <a:custGeom>
              <a:avLst/>
              <a:gdLst/>
              <a:ahLst/>
              <a:cxnLst/>
              <a:rect r="r" b="b" t="t" l="l"/>
              <a:pathLst>
                <a:path h="1690624" w="12606782">
                  <a:moveTo>
                    <a:pt x="0" y="267208"/>
                  </a:moveTo>
                  <a:cubicBezTo>
                    <a:pt x="0" y="119634"/>
                    <a:pt x="119634" y="0"/>
                    <a:pt x="267208" y="0"/>
                  </a:cubicBezTo>
                  <a:lnTo>
                    <a:pt x="12339574" y="0"/>
                  </a:lnTo>
                  <a:cubicBezTo>
                    <a:pt x="12487148" y="0"/>
                    <a:pt x="12606782" y="119634"/>
                    <a:pt x="12606782" y="267208"/>
                  </a:cubicBezTo>
                  <a:lnTo>
                    <a:pt x="12606782" y="1423416"/>
                  </a:lnTo>
                  <a:cubicBezTo>
                    <a:pt x="12606782" y="1570990"/>
                    <a:pt x="12487148" y="1690624"/>
                    <a:pt x="12339574" y="1690624"/>
                  </a:cubicBezTo>
                  <a:lnTo>
                    <a:pt x="267208" y="1690624"/>
                  </a:lnTo>
                  <a:cubicBezTo>
                    <a:pt x="119634" y="1690497"/>
                    <a:pt x="0" y="1570863"/>
                    <a:pt x="0" y="1423289"/>
                  </a:cubicBezTo>
                  <a:close/>
                </a:path>
              </a:pathLst>
            </a:custGeom>
            <a:solidFill>
              <a:srgbClr val="FFFFFF"/>
            </a:solidFill>
            <a:ln w="9526" cap="sq">
              <a:solidFill>
                <a:srgbClr val="FF7047"/>
              </a:solidFill>
              <a:prstDash val="solid"/>
              <a:miter/>
            </a:ln>
          </p:spPr>
        </p:sp>
      </p:grpSp>
      <p:sp>
        <p:nvSpPr>
          <p:cNvPr name="TextBox 23" id="23"/>
          <p:cNvSpPr txBox="true"/>
          <p:nvPr/>
        </p:nvSpPr>
        <p:spPr>
          <a:xfrm rot="0">
            <a:off x="8080619" y="6432947"/>
            <a:ext cx="8984752" cy="354806"/>
          </a:xfrm>
          <a:prstGeom prst="rect">
            <a:avLst/>
          </a:prstGeom>
        </p:spPr>
        <p:txBody>
          <a:bodyPr anchor="t" rtlCol="false" tIns="0" lIns="0" bIns="0" rIns="0">
            <a:spAutoFit/>
          </a:bodyPr>
          <a:lstStyle/>
          <a:p>
            <a:pPr algn="l">
              <a:lnSpc>
                <a:spcPts val="2620"/>
              </a:lnSpc>
            </a:pPr>
            <a:r>
              <a:rPr lang="en-US" sz="2100">
                <a:solidFill>
                  <a:srgbClr val="000000"/>
                </a:solidFill>
                <a:latin typeface="Inter"/>
                <a:ea typeface="Inter"/>
                <a:cs typeface="Inter"/>
                <a:sym typeface="Inter"/>
              </a:rPr>
              <a:t>⚡</a:t>
            </a:r>
            <a:r>
              <a:rPr lang="en-US" sz="2100">
                <a:solidFill>
                  <a:srgbClr val="55575A"/>
                </a:solidFill>
                <a:latin typeface="Inter"/>
                <a:ea typeface="Inter"/>
                <a:cs typeface="Inter"/>
                <a:sym typeface="Inter"/>
              </a:rPr>
              <a:t> Need for Speed</a:t>
            </a:r>
          </a:p>
        </p:txBody>
      </p:sp>
      <p:sp>
        <p:nvSpPr>
          <p:cNvPr name="TextBox 24" id="24"/>
          <p:cNvSpPr txBox="true"/>
          <p:nvPr/>
        </p:nvSpPr>
        <p:spPr>
          <a:xfrm rot="0">
            <a:off x="8080619" y="6839102"/>
            <a:ext cx="8984752" cy="400945"/>
          </a:xfrm>
          <a:prstGeom prst="rect">
            <a:avLst/>
          </a:prstGeom>
        </p:spPr>
        <p:txBody>
          <a:bodyPr anchor="t" rtlCol="false" tIns="0" lIns="0" bIns="0" rIns="0">
            <a:spAutoFit/>
          </a:bodyPr>
          <a:lstStyle/>
          <a:p>
            <a:pPr algn="l">
              <a:lnSpc>
                <a:spcPts val="2570"/>
              </a:lnSpc>
            </a:pPr>
            <a:r>
              <a:rPr lang="en-US" sz="1700">
                <a:solidFill>
                  <a:srgbClr val="55575A"/>
                </a:solidFill>
                <a:latin typeface="Arimo"/>
                <a:ea typeface="Arimo"/>
                <a:cs typeface="Arimo"/>
                <a:sym typeface="Arimo"/>
              </a:rPr>
              <a:t>Competitive markets demand faster decision-making without sacrificing quality.</a:t>
            </a:r>
          </a:p>
        </p:txBody>
      </p:sp>
      <p:grpSp>
        <p:nvGrpSpPr>
          <p:cNvPr name="Group 25" id="25"/>
          <p:cNvGrpSpPr/>
          <p:nvPr/>
        </p:nvGrpSpPr>
        <p:grpSpPr>
          <a:xfrm rot="0">
            <a:off x="7850238" y="7691733"/>
            <a:ext cx="9445523" cy="1821361"/>
            <a:chOff x="0" y="0"/>
            <a:chExt cx="12594031" cy="2428481"/>
          </a:xfrm>
        </p:grpSpPr>
        <p:sp>
          <p:nvSpPr>
            <p:cNvPr name="Freeform 26" id="26"/>
            <p:cNvSpPr/>
            <p:nvPr/>
          </p:nvSpPr>
          <p:spPr>
            <a:xfrm flipH="false" flipV="false" rot="0">
              <a:off x="0" y="0"/>
              <a:ext cx="12594082" cy="2428494"/>
            </a:xfrm>
            <a:custGeom>
              <a:avLst/>
              <a:gdLst/>
              <a:ahLst/>
              <a:cxnLst/>
              <a:rect r="r" b="b" t="t" l="l"/>
              <a:pathLst>
                <a:path h="2428494" w="12594082">
                  <a:moveTo>
                    <a:pt x="0" y="265176"/>
                  </a:moveTo>
                  <a:cubicBezTo>
                    <a:pt x="0" y="118745"/>
                    <a:pt x="118745" y="0"/>
                    <a:pt x="265176" y="0"/>
                  </a:cubicBezTo>
                  <a:lnTo>
                    <a:pt x="12328906" y="0"/>
                  </a:lnTo>
                  <a:cubicBezTo>
                    <a:pt x="12475337" y="0"/>
                    <a:pt x="12594082" y="118745"/>
                    <a:pt x="12594082" y="265176"/>
                  </a:cubicBezTo>
                  <a:lnTo>
                    <a:pt x="12594082" y="2163318"/>
                  </a:lnTo>
                  <a:cubicBezTo>
                    <a:pt x="12594082" y="2309749"/>
                    <a:pt x="12475337" y="2428494"/>
                    <a:pt x="12328906" y="2428494"/>
                  </a:cubicBezTo>
                  <a:lnTo>
                    <a:pt x="265176" y="2428494"/>
                  </a:lnTo>
                  <a:cubicBezTo>
                    <a:pt x="118745" y="2428494"/>
                    <a:pt x="0" y="2309749"/>
                    <a:pt x="0" y="2163318"/>
                  </a:cubicBezTo>
                  <a:close/>
                </a:path>
              </a:pathLst>
            </a:custGeom>
            <a:solidFill>
              <a:srgbClr val="FFD7CC"/>
            </a:solidFill>
          </p:spPr>
        </p:sp>
      </p:grpSp>
      <p:grpSp>
        <p:nvGrpSpPr>
          <p:cNvPr name="Group 27" id="27"/>
          <p:cNvGrpSpPr/>
          <p:nvPr/>
        </p:nvGrpSpPr>
        <p:grpSpPr>
          <a:xfrm rot="0">
            <a:off x="8071094" y="7993561"/>
            <a:ext cx="276073" cy="220856"/>
            <a:chOff x="0" y="0"/>
            <a:chExt cx="368097" cy="294475"/>
          </a:xfrm>
        </p:grpSpPr>
        <p:sp>
          <p:nvSpPr>
            <p:cNvPr name="Freeform 28" id="28" descr="preencoded.png"/>
            <p:cNvSpPr/>
            <p:nvPr/>
          </p:nvSpPr>
          <p:spPr>
            <a:xfrm flipH="false" flipV="false" rot="0">
              <a:off x="0" y="0"/>
              <a:ext cx="368046" cy="294513"/>
            </a:xfrm>
            <a:custGeom>
              <a:avLst/>
              <a:gdLst/>
              <a:ahLst/>
              <a:cxnLst/>
              <a:rect r="r" b="b" t="t" l="l"/>
              <a:pathLst>
                <a:path h="294513" w="368046">
                  <a:moveTo>
                    <a:pt x="0" y="0"/>
                  </a:moveTo>
                  <a:lnTo>
                    <a:pt x="368046" y="0"/>
                  </a:lnTo>
                  <a:lnTo>
                    <a:pt x="368046" y="294513"/>
                  </a:lnTo>
                  <a:lnTo>
                    <a:pt x="0" y="294513"/>
                  </a:lnTo>
                  <a:lnTo>
                    <a:pt x="0" y="0"/>
                  </a:lnTo>
                  <a:close/>
                </a:path>
              </a:pathLst>
            </a:custGeom>
            <a:blipFill>
              <a:blip r:embed="rId5"/>
              <a:stretch>
                <a:fillRect l="0" t="-1724" r="-13" b="-1711"/>
              </a:stretch>
            </a:blipFill>
          </p:spPr>
        </p:sp>
      </p:grpSp>
      <p:sp>
        <p:nvSpPr>
          <p:cNvPr name="TextBox 29" id="29"/>
          <p:cNvSpPr txBox="true"/>
          <p:nvPr/>
        </p:nvSpPr>
        <p:spPr>
          <a:xfrm rot="0">
            <a:off x="8568033" y="7877023"/>
            <a:ext cx="8506863" cy="1403747"/>
          </a:xfrm>
          <a:prstGeom prst="rect">
            <a:avLst/>
          </a:prstGeom>
        </p:spPr>
        <p:txBody>
          <a:bodyPr anchor="t" rtlCol="false" tIns="0" lIns="0" bIns="0" rIns="0">
            <a:spAutoFit/>
          </a:bodyPr>
          <a:lstStyle/>
          <a:p>
            <a:pPr algn="l">
              <a:lnSpc>
                <a:spcPts val="2570"/>
              </a:lnSpc>
            </a:pPr>
            <a:r>
              <a:rPr lang="en-US" sz="1700" b="true">
                <a:solidFill>
                  <a:srgbClr val="000000"/>
                </a:solidFill>
                <a:latin typeface="Arimo Bold"/>
                <a:ea typeface="Arimo Bold"/>
                <a:cs typeface="Arimo Bold"/>
                <a:sym typeface="Arimo Bold"/>
              </a:rPr>
              <a:t>Speaker Notes:</a:t>
            </a:r>
            <a:r>
              <a:rPr lang="en-US" sz="1700">
                <a:solidFill>
                  <a:srgbClr val="000000"/>
                </a:solidFill>
                <a:latin typeface="Arimo"/>
                <a:ea typeface="Arimo"/>
                <a:cs typeface="Arimo"/>
                <a:sym typeface="Arimo"/>
              </a:rPr>
              <a:t> Emphasize the pain points product managers face daily. The manual nature of feedback analysis, competitor research, and PRD writing creates bottlenecks. This system introduces AI agents to handle these tasks collaboratively and efficiently.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844896"/>
            <a:ext cx="1797691" cy="294380"/>
            <a:chOff x="0" y="0"/>
            <a:chExt cx="2396922" cy="392506"/>
          </a:xfrm>
        </p:grpSpPr>
        <p:sp>
          <p:nvSpPr>
            <p:cNvPr name="Freeform 7" id="7"/>
            <p:cNvSpPr/>
            <p:nvPr/>
          </p:nvSpPr>
          <p:spPr>
            <a:xfrm flipH="false" flipV="false" rot="0">
              <a:off x="0" y="0"/>
              <a:ext cx="2396871" cy="392430"/>
            </a:xfrm>
            <a:custGeom>
              <a:avLst/>
              <a:gdLst/>
              <a:ahLst/>
              <a:cxnLst/>
              <a:rect r="r" b="b" t="t" l="l"/>
              <a:pathLst>
                <a:path h="392430" w="2396871">
                  <a:moveTo>
                    <a:pt x="0" y="186055"/>
                  </a:moveTo>
                  <a:cubicBezTo>
                    <a:pt x="0" y="83312"/>
                    <a:pt x="83312" y="0"/>
                    <a:pt x="186055" y="0"/>
                  </a:cubicBezTo>
                  <a:lnTo>
                    <a:pt x="2210816" y="0"/>
                  </a:lnTo>
                  <a:cubicBezTo>
                    <a:pt x="2313559" y="0"/>
                    <a:pt x="2396871" y="83312"/>
                    <a:pt x="2396871" y="186055"/>
                  </a:cubicBezTo>
                  <a:lnTo>
                    <a:pt x="2396871" y="206375"/>
                  </a:lnTo>
                  <a:cubicBezTo>
                    <a:pt x="2396871" y="309118"/>
                    <a:pt x="2313559" y="392430"/>
                    <a:pt x="2210816" y="392430"/>
                  </a:cubicBezTo>
                  <a:lnTo>
                    <a:pt x="186055" y="392430"/>
                  </a:lnTo>
                  <a:cubicBezTo>
                    <a:pt x="83312" y="392557"/>
                    <a:pt x="0" y="309245"/>
                    <a:pt x="0" y="206502"/>
                  </a:cubicBezTo>
                  <a:close/>
                </a:path>
              </a:pathLst>
            </a:custGeom>
            <a:solidFill>
              <a:srgbClr val="FFD7CC"/>
            </a:solidFill>
          </p:spPr>
        </p:sp>
      </p:grpSp>
      <p:sp>
        <p:nvSpPr>
          <p:cNvPr name="TextBox 8" id="8"/>
          <p:cNvSpPr txBox="true"/>
          <p:nvPr/>
        </p:nvSpPr>
        <p:spPr>
          <a:xfrm rot="0">
            <a:off x="1108472" y="893416"/>
            <a:ext cx="2479624" cy="187823"/>
          </a:xfrm>
          <a:prstGeom prst="rect">
            <a:avLst/>
          </a:prstGeom>
        </p:spPr>
        <p:txBody>
          <a:bodyPr anchor="t" rtlCol="false" tIns="0" lIns="0" bIns="0" rIns="0">
            <a:spAutoFit/>
          </a:bodyPr>
          <a:lstStyle/>
          <a:p>
            <a:pPr algn="l">
              <a:lnSpc>
                <a:spcPts val="1382"/>
              </a:lnSpc>
            </a:pPr>
            <a:r>
              <a:rPr lang="en-US" sz="1200">
                <a:solidFill>
                  <a:srgbClr val="55575A"/>
                </a:solidFill>
                <a:latin typeface="Arimo"/>
                <a:ea typeface="Arimo"/>
                <a:cs typeface="Arimo"/>
                <a:sym typeface="Arimo"/>
              </a:rPr>
              <a:t>PROJECT OBJECTIVES</a:t>
            </a:r>
          </a:p>
        </p:txBody>
      </p:sp>
      <p:sp>
        <p:nvSpPr>
          <p:cNvPr name="TextBox 9" id="9"/>
          <p:cNvSpPr txBox="true"/>
          <p:nvPr/>
        </p:nvSpPr>
        <p:spPr>
          <a:xfrm rot="0">
            <a:off x="992238" y="1180652"/>
            <a:ext cx="16303523" cy="624783"/>
          </a:xfrm>
          <a:prstGeom prst="rect">
            <a:avLst/>
          </a:prstGeom>
        </p:spPr>
        <p:txBody>
          <a:bodyPr anchor="t" rtlCol="false" tIns="0" lIns="0" bIns="0" rIns="0">
            <a:spAutoFit/>
          </a:bodyPr>
          <a:lstStyle/>
          <a:p>
            <a:pPr algn="l">
              <a:lnSpc>
                <a:spcPts val="4742"/>
              </a:lnSpc>
            </a:pPr>
            <a:r>
              <a:rPr lang="en-US" sz="3800">
                <a:solidFill>
                  <a:srgbClr val="0C0D0F"/>
                </a:solidFill>
                <a:latin typeface="Inter"/>
                <a:ea typeface="Inter"/>
                <a:cs typeface="Inter"/>
                <a:sym typeface="Inter"/>
              </a:rPr>
              <a:t>What We Set Out to Build</a:t>
            </a:r>
          </a:p>
        </p:txBody>
      </p:sp>
      <p:sp>
        <p:nvSpPr>
          <p:cNvPr name="TextBox 10" id="10"/>
          <p:cNvSpPr txBox="true"/>
          <p:nvPr/>
        </p:nvSpPr>
        <p:spPr>
          <a:xfrm rot="0">
            <a:off x="992238" y="1984924"/>
            <a:ext cx="17217923" cy="323698"/>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This project defines six clear objectives to demonstrate the power of multi-agent AI systems in a real-world product management context.</a:t>
            </a:r>
          </a:p>
        </p:txBody>
      </p:sp>
      <p:sp>
        <p:nvSpPr>
          <p:cNvPr name="Freeform 11" id="11" descr="preencoded.png"/>
          <p:cNvSpPr/>
          <p:nvPr/>
        </p:nvSpPr>
        <p:spPr>
          <a:xfrm flipH="false" flipV="false" rot="0">
            <a:off x="992238" y="2478881"/>
            <a:ext cx="8076009" cy="1943252"/>
          </a:xfrm>
          <a:custGeom>
            <a:avLst/>
            <a:gdLst/>
            <a:ahLst/>
            <a:cxnLst/>
            <a:rect r="r" b="b" t="t" l="l"/>
            <a:pathLst>
              <a:path h="1943252" w="8076009">
                <a:moveTo>
                  <a:pt x="0" y="0"/>
                </a:moveTo>
                <a:lnTo>
                  <a:pt x="8076010" y="0"/>
                </a:lnTo>
                <a:lnTo>
                  <a:pt x="8076010" y="1943253"/>
                </a:lnTo>
                <a:lnTo>
                  <a:pt x="0" y="1943253"/>
                </a:lnTo>
                <a:lnTo>
                  <a:pt x="0" y="0"/>
                </a:lnTo>
                <a:close/>
              </a:path>
            </a:pathLst>
          </a:custGeom>
          <a:blipFill>
            <a:blip r:embed="rId3">
              <a:extLst>
                <a:ext uri="{96DAC541-7B7A-43D3-8B79-37D633B846F1}">
                  <asvg:svgBlip xmlns:asvg="http://schemas.microsoft.com/office/drawing/2016/SVG/main" r:embed="rId4"/>
                </a:ext>
              </a:extLst>
            </a:blip>
            <a:stretch>
              <a:fillRect l="0" t="-233" r="0" b="-233"/>
            </a:stretch>
          </a:blipFill>
        </p:spPr>
      </p:sp>
      <p:grpSp>
        <p:nvGrpSpPr>
          <p:cNvPr name="Group 12" id="12"/>
          <p:cNvGrpSpPr/>
          <p:nvPr/>
        </p:nvGrpSpPr>
        <p:grpSpPr>
          <a:xfrm rot="0">
            <a:off x="4914005" y="2624138"/>
            <a:ext cx="232467" cy="290665"/>
            <a:chOff x="0" y="0"/>
            <a:chExt cx="309956" cy="387553"/>
          </a:xfrm>
        </p:grpSpPr>
        <p:sp>
          <p:nvSpPr>
            <p:cNvPr name="Freeform 13" id="13"/>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14" id="14"/>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1</a:t>
              </a:r>
            </a:p>
          </p:txBody>
        </p:sp>
      </p:grpSp>
      <p:sp>
        <p:nvSpPr>
          <p:cNvPr name="TextBox 15" id="15"/>
          <p:cNvSpPr txBox="true"/>
          <p:nvPr/>
        </p:nvSpPr>
        <p:spPr>
          <a:xfrm rot="0">
            <a:off x="1214590" y="3244453"/>
            <a:ext cx="7631306"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Automate Workflow</a:t>
            </a:r>
          </a:p>
        </p:txBody>
      </p:sp>
      <p:sp>
        <p:nvSpPr>
          <p:cNvPr name="TextBox 16" id="16"/>
          <p:cNvSpPr txBox="true"/>
          <p:nvPr/>
        </p:nvSpPr>
        <p:spPr>
          <a:xfrm rot="0">
            <a:off x="1214590" y="3600002"/>
            <a:ext cx="7631306" cy="599780"/>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End-to-end automation of the product management pipeline from feedback to sprint plan.</a:t>
            </a:r>
          </a:p>
        </p:txBody>
      </p:sp>
      <p:sp>
        <p:nvSpPr>
          <p:cNvPr name="Freeform 17" id="17" descr="preencoded.png"/>
          <p:cNvSpPr/>
          <p:nvPr/>
        </p:nvSpPr>
        <p:spPr>
          <a:xfrm flipH="false" flipV="false" rot="0">
            <a:off x="9219600" y="2478881"/>
            <a:ext cx="8076162" cy="1943252"/>
          </a:xfrm>
          <a:custGeom>
            <a:avLst/>
            <a:gdLst/>
            <a:ahLst/>
            <a:cxnLst/>
            <a:rect r="r" b="b" t="t" l="l"/>
            <a:pathLst>
              <a:path h="1943252" w="8076162">
                <a:moveTo>
                  <a:pt x="0" y="0"/>
                </a:moveTo>
                <a:lnTo>
                  <a:pt x="8076162" y="0"/>
                </a:lnTo>
                <a:lnTo>
                  <a:pt x="8076162" y="1943253"/>
                </a:lnTo>
                <a:lnTo>
                  <a:pt x="0" y="1943253"/>
                </a:lnTo>
                <a:lnTo>
                  <a:pt x="0" y="0"/>
                </a:lnTo>
                <a:close/>
              </a:path>
            </a:pathLst>
          </a:custGeom>
          <a:blipFill>
            <a:blip r:embed="rId3">
              <a:extLst>
                <a:ext uri="{96DAC541-7B7A-43D3-8B79-37D633B846F1}">
                  <asvg:svgBlip xmlns:asvg="http://schemas.microsoft.com/office/drawing/2016/SVG/main" r:embed="rId4"/>
                </a:ext>
              </a:extLst>
            </a:blip>
            <a:stretch>
              <a:fillRect l="0" t="-234" r="0" b="-234"/>
            </a:stretch>
          </a:blipFill>
        </p:spPr>
      </p:sp>
      <p:grpSp>
        <p:nvGrpSpPr>
          <p:cNvPr name="Group 18" id="18"/>
          <p:cNvGrpSpPr/>
          <p:nvPr/>
        </p:nvGrpSpPr>
        <p:grpSpPr>
          <a:xfrm rot="0">
            <a:off x="13141376" y="2624138"/>
            <a:ext cx="232467" cy="290665"/>
            <a:chOff x="0" y="0"/>
            <a:chExt cx="309956" cy="387553"/>
          </a:xfrm>
        </p:grpSpPr>
        <p:sp>
          <p:nvSpPr>
            <p:cNvPr name="Freeform 19" id="19"/>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20" id="20"/>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2</a:t>
              </a:r>
            </a:p>
          </p:txBody>
        </p:sp>
      </p:grpSp>
      <p:sp>
        <p:nvSpPr>
          <p:cNvPr name="TextBox 21" id="21"/>
          <p:cNvSpPr txBox="true"/>
          <p:nvPr/>
        </p:nvSpPr>
        <p:spPr>
          <a:xfrm rot="0">
            <a:off x="9441952" y="3244453"/>
            <a:ext cx="7631459"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Multi-Agent System</a:t>
            </a:r>
          </a:p>
        </p:txBody>
      </p:sp>
      <p:sp>
        <p:nvSpPr>
          <p:cNvPr name="TextBox 22" id="22"/>
          <p:cNvSpPr txBox="true"/>
          <p:nvPr/>
        </p:nvSpPr>
        <p:spPr>
          <a:xfrm rot="0">
            <a:off x="9441952" y="3600002"/>
            <a:ext cx="7631459" cy="323698"/>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Deploy multiple specialized AI agents, each with a distinct role and responsibility.</a:t>
            </a:r>
          </a:p>
        </p:txBody>
      </p:sp>
      <p:sp>
        <p:nvSpPr>
          <p:cNvPr name="Freeform 23" id="23" descr="preencoded.png"/>
          <p:cNvSpPr/>
          <p:nvPr/>
        </p:nvSpPr>
        <p:spPr>
          <a:xfrm flipH="false" flipV="false" rot="0">
            <a:off x="992238" y="4573486"/>
            <a:ext cx="8076009" cy="1943252"/>
          </a:xfrm>
          <a:custGeom>
            <a:avLst/>
            <a:gdLst/>
            <a:ahLst/>
            <a:cxnLst/>
            <a:rect r="r" b="b" t="t" l="l"/>
            <a:pathLst>
              <a:path h="1943252" w="8076009">
                <a:moveTo>
                  <a:pt x="0" y="0"/>
                </a:moveTo>
                <a:lnTo>
                  <a:pt x="8076010" y="0"/>
                </a:lnTo>
                <a:lnTo>
                  <a:pt x="8076010" y="1943252"/>
                </a:lnTo>
                <a:lnTo>
                  <a:pt x="0" y="1943252"/>
                </a:lnTo>
                <a:lnTo>
                  <a:pt x="0" y="0"/>
                </a:lnTo>
                <a:close/>
              </a:path>
            </a:pathLst>
          </a:custGeom>
          <a:blipFill>
            <a:blip r:embed="rId3">
              <a:extLst>
                <a:ext uri="{96DAC541-7B7A-43D3-8B79-37D633B846F1}">
                  <asvg:svgBlip xmlns:asvg="http://schemas.microsoft.com/office/drawing/2016/SVG/main" r:embed="rId4"/>
                </a:ext>
              </a:extLst>
            </a:blip>
            <a:stretch>
              <a:fillRect l="0" t="-233" r="0" b="-233"/>
            </a:stretch>
          </a:blipFill>
        </p:spPr>
      </p:sp>
      <p:grpSp>
        <p:nvGrpSpPr>
          <p:cNvPr name="Group 24" id="24"/>
          <p:cNvGrpSpPr/>
          <p:nvPr/>
        </p:nvGrpSpPr>
        <p:grpSpPr>
          <a:xfrm rot="0">
            <a:off x="4914005" y="4718742"/>
            <a:ext cx="232467" cy="290665"/>
            <a:chOff x="0" y="0"/>
            <a:chExt cx="309956" cy="387553"/>
          </a:xfrm>
        </p:grpSpPr>
        <p:sp>
          <p:nvSpPr>
            <p:cNvPr name="Freeform 25" id="25"/>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26" id="26"/>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3</a:t>
              </a:r>
            </a:p>
          </p:txBody>
        </p:sp>
      </p:grpSp>
      <p:sp>
        <p:nvSpPr>
          <p:cNvPr name="TextBox 27" id="27"/>
          <p:cNvSpPr txBox="true"/>
          <p:nvPr/>
        </p:nvSpPr>
        <p:spPr>
          <a:xfrm rot="0">
            <a:off x="1214590" y="5339058"/>
            <a:ext cx="7631306"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Shared Memory</a:t>
            </a:r>
          </a:p>
        </p:txBody>
      </p:sp>
      <p:sp>
        <p:nvSpPr>
          <p:cNvPr name="TextBox 28" id="28"/>
          <p:cNvSpPr txBox="true"/>
          <p:nvPr/>
        </p:nvSpPr>
        <p:spPr>
          <a:xfrm rot="0">
            <a:off x="1214590" y="5694607"/>
            <a:ext cx="7631306" cy="599780"/>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Implement a shared memory layer enabling agents to access and update collective context.</a:t>
            </a:r>
          </a:p>
        </p:txBody>
      </p:sp>
      <p:sp>
        <p:nvSpPr>
          <p:cNvPr name="Freeform 29" id="29" descr="preencoded.png"/>
          <p:cNvSpPr/>
          <p:nvPr/>
        </p:nvSpPr>
        <p:spPr>
          <a:xfrm flipH="false" flipV="false" rot="0">
            <a:off x="9219600" y="4573486"/>
            <a:ext cx="8076162" cy="1943252"/>
          </a:xfrm>
          <a:custGeom>
            <a:avLst/>
            <a:gdLst/>
            <a:ahLst/>
            <a:cxnLst/>
            <a:rect r="r" b="b" t="t" l="l"/>
            <a:pathLst>
              <a:path h="1943252" w="8076162">
                <a:moveTo>
                  <a:pt x="0" y="0"/>
                </a:moveTo>
                <a:lnTo>
                  <a:pt x="8076162" y="0"/>
                </a:lnTo>
                <a:lnTo>
                  <a:pt x="8076162" y="1943252"/>
                </a:lnTo>
                <a:lnTo>
                  <a:pt x="0" y="1943252"/>
                </a:lnTo>
                <a:lnTo>
                  <a:pt x="0" y="0"/>
                </a:lnTo>
                <a:close/>
              </a:path>
            </a:pathLst>
          </a:custGeom>
          <a:blipFill>
            <a:blip r:embed="rId3">
              <a:extLst>
                <a:ext uri="{96DAC541-7B7A-43D3-8B79-37D633B846F1}">
                  <asvg:svgBlip xmlns:asvg="http://schemas.microsoft.com/office/drawing/2016/SVG/main" r:embed="rId4"/>
                </a:ext>
              </a:extLst>
            </a:blip>
            <a:stretch>
              <a:fillRect l="0" t="-234" r="0" b="-234"/>
            </a:stretch>
          </a:blipFill>
        </p:spPr>
      </p:sp>
      <p:grpSp>
        <p:nvGrpSpPr>
          <p:cNvPr name="Group 30" id="30"/>
          <p:cNvGrpSpPr/>
          <p:nvPr/>
        </p:nvGrpSpPr>
        <p:grpSpPr>
          <a:xfrm rot="0">
            <a:off x="13141376" y="4718742"/>
            <a:ext cx="232467" cy="290665"/>
            <a:chOff x="0" y="0"/>
            <a:chExt cx="309956" cy="387553"/>
          </a:xfrm>
        </p:grpSpPr>
        <p:sp>
          <p:nvSpPr>
            <p:cNvPr name="Freeform 31" id="31"/>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32" id="32"/>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4</a:t>
              </a:r>
            </a:p>
          </p:txBody>
        </p:sp>
      </p:grpSp>
      <p:sp>
        <p:nvSpPr>
          <p:cNvPr name="TextBox 33" id="33"/>
          <p:cNvSpPr txBox="true"/>
          <p:nvPr/>
        </p:nvSpPr>
        <p:spPr>
          <a:xfrm rot="0">
            <a:off x="9441952" y="5339058"/>
            <a:ext cx="7631459"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Agent Collaboration</a:t>
            </a:r>
          </a:p>
        </p:txBody>
      </p:sp>
      <p:sp>
        <p:nvSpPr>
          <p:cNvPr name="TextBox 34" id="34"/>
          <p:cNvSpPr txBox="true"/>
          <p:nvPr/>
        </p:nvSpPr>
        <p:spPr>
          <a:xfrm rot="0">
            <a:off x="9441952" y="5694607"/>
            <a:ext cx="7631459" cy="323698"/>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Agents pass structured outputs sequentially, building on each other's work.</a:t>
            </a:r>
          </a:p>
        </p:txBody>
      </p:sp>
      <p:sp>
        <p:nvSpPr>
          <p:cNvPr name="Freeform 35" id="35" descr="preencoded.png"/>
          <p:cNvSpPr/>
          <p:nvPr/>
        </p:nvSpPr>
        <p:spPr>
          <a:xfrm flipH="false" flipV="false" rot="0">
            <a:off x="992238" y="6668100"/>
            <a:ext cx="8076009" cy="1667170"/>
          </a:xfrm>
          <a:custGeom>
            <a:avLst/>
            <a:gdLst/>
            <a:ahLst/>
            <a:cxnLst/>
            <a:rect r="r" b="b" t="t" l="l"/>
            <a:pathLst>
              <a:path h="1667170" w="8076009">
                <a:moveTo>
                  <a:pt x="0" y="0"/>
                </a:moveTo>
                <a:lnTo>
                  <a:pt x="8076010" y="0"/>
                </a:lnTo>
                <a:lnTo>
                  <a:pt x="8076010" y="1667170"/>
                </a:lnTo>
                <a:lnTo>
                  <a:pt x="0" y="1667170"/>
                </a:lnTo>
                <a:lnTo>
                  <a:pt x="0" y="0"/>
                </a:lnTo>
                <a:close/>
              </a:path>
            </a:pathLst>
          </a:custGeom>
          <a:blipFill>
            <a:blip r:embed="rId6">
              <a:extLst>
                <a:ext uri="{96DAC541-7B7A-43D3-8B79-37D633B846F1}">
                  <asvg:svgBlip xmlns:asvg="http://schemas.microsoft.com/office/drawing/2016/SVG/main" r:embed="rId7"/>
                </a:ext>
              </a:extLst>
            </a:blip>
            <a:stretch>
              <a:fillRect l="0" t="-269" r="0" b="-269"/>
            </a:stretch>
          </a:blipFill>
        </p:spPr>
      </p:sp>
      <p:grpSp>
        <p:nvGrpSpPr>
          <p:cNvPr name="Group 36" id="36"/>
          <p:cNvGrpSpPr/>
          <p:nvPr/>
        </p:nvGrpSpPr>
        <p:grpSpPr>
          <a:xfrm rot="0">
            <a:off x="4914005" y="6813356"/>
            <a:ext cx="232467" cy="290665"/>
            <a:chOff x="0" y="0"/>
            <a:chExt cx="309956" cy="387553"/>
          </a:xfrm>
        </p:grpSpPr>
        <p:sp>
          <p:nvSpPr>
            <p:cNvPr name="Freeform 37" id="37"/>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38" id="38"/>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5</a:t>
              </a:r>
            </a:p>
          </p:txBody>
        </p:sp>
      </p:grpSp>
      <p:sp>
        <p:nvSpPr>
          <p:cNvPr name="TextBox 39" id="39"/>
          <p:cNvSpPr txBox="true"/>
          <p:nvPr/>
        </p:nvSpPr>
        <p:spPr>
          <a:xfrm rot="0">
            <a:off x="1214590" y="7433662"/>
            <a:ext cx="7631306"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Structured Outputs</a:t>
            </a:r>
          </a:p>
        </p:txBody>
      </p:sp>
      <p:sp>
        <p:nvSpPr>
          <p:cNvPr name="TextBox 40" id="40"/>
          <p:cNvSpPr txBox="true"/>
          <p:nvPr/>
        </p:nvSpPr>
        <p:spPr>
          <a:xfrm rot="0">
            <a:off x="1214590" y="7789221"/>
            <a:ext cx="7631306" cy="323698"/>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Generate well-formatted, actionable documents including PRDs and sprint plans.</a:t>
            </a:r>
          </a:p>
        </p:txBody>
      </p:sp>
      <p:sp>
        <p:nvSpPr>
          <p:cNvPr name="Freeform 41" id="41" descr="preencoded.png"/>
          <p:cNvSpPr/>
          <p:nvPr/>
        </p:nvSpPr>
        <p:spPr>
          <a:xfrm flipH="false" flipV="false" rot="0">
            <a:off x="9219600" y="6668100"/>
            <a:ext cx="8076162" cy="1667170"/>
          </a:xfrm>
          <a:custGeom>
            <a:avLst/>
            <a:gdLst/>
            <a:ahLst/>
            <a:cxnLst/>
            <a:rect r="r" b="b" t="t" l="l"/>
            <a:pathLst>
              <a:path h="1667170" w="8076162">
                <a:moveTo>
                  <a:pt x="0" y="0"/>
                </a:moveTo>
                <a:lnTo>
                  <a:pt x="8076162" y="0"/>
                </a:lnTo>
                <a:lnTo>
                  <a:pt x="8076162" y="1667170"/>
                </a:lnTo>
                <a:lnTo>
                  <a:pt x="0" y="1667170"/>
                </a:lnTo>
                <a:lnTo>
                  <a:pt x="0" y="0"/>
                </a:lnTo>
                <a:close/>
              </a:path>
            </a:pathLst>
          </a:custGeom>
          <a:blipFill>
            <a:blip r:embed="rId6">
              <a:extLst>
                <a:ext uri="{96DAC541-7B7A-43D3-8B79-37D633B846F1}">
                  <asvg:svgBlip xmlns:asvg="http://schemas.microsoft.com/office/drawing/2016/SVG/main" r:embed="rId7"/>
                </a:ext>
              </a:extLst>
            </a:blip>
            <a:stretch>
              <a:fillRect l="0" t="-270" r="0" b="-270"/>
            </a:stretch>
          </a:blipFill>
        </p:spPr>
      </p:sp>
      <p:grpSp>
        <p:nvGrpSpPr>
          <p:cNvPr name="Group 42" id="42"/>
          <p:cNvGrpSpPr/>
          <p:nvPr/>
        </p:nvGrpSpPr>
        <p:grpSpPr>
          <a:xfrm rot="0">
            <a:off x="13141376" y="6813356"/>
            <a:ext cx="232467" cy="290665"/>
            <a:chOff x="0" y="0"/>
            <a:chExt cx="309956" cy="387553"/>
          </a:xfrm>
        </p:grpSpPr>
        <p:sp>
          <p:nvSpPr>
            <p:cNvPr name="Freeform 43" id="43"/>
            <p:cNvSpPr/>
            <p:nvPr/>
          </p:nvSpPr>
          <p:spPr>
            <a:xfrm flipH="false" flipV="false" rot="0">
              <a:off x="0" y="0"/>
              <a:ext cx="309960" cy="387549"/>
            </a:xfrm>
            <a:custGeom>
              <a:avLst/>
              <a:gdLst/>
              <a:ahLst/>
              <a:cxnLst/>
              <a:rect r="r" b="b" t="t" l="l"/>
              <a:pathLst>
                <a:path h="387549" w="309960">
                  <a:moveTo>
                    <a:pt x="0" y="0"/>
                  </a:moveTo>
                  <a:lnTo>
                    <a:pt x="309960" y="0"/>
                  </a:lnTo>
                  <a:lnTo>
                    <a:pt x="309960" y="387549"/>
                  </a:lnTo>
                  <a:lnTo>
                    <a:pt x="0" y="387549"/>
                  </a:lnTo>
                  <a:close/>
                </a:path>
              </a:pathLst>
            </a:custGeom>
            <a:blipFill>
              <a:blip r:embed="rId5">
                <a:alphaModFix amt="0"/>
              </a:blip>
              <a:stretch>
                <a:fillRect l="-110422" t="0" r="-110421" b="0"/>
              </a:stretch>
            </a:blipFill>
          </p:spPr>
        </p:sp>
        <p:sp>
          <p:nvSpPr>
            <p:cNvPr name="TextBox 44" id="44"/>
            <p:cNvSpPr txBox="true"/>
            <p:nvPr/>
          </p:nvSpPr>
          <p:spPr>
            <a:xfrm>
              <a:off x="0" y="0"/>
              <a:ext cx="309956" cy="387553"/>
            </a:xfrm>
            <a:prstGeom prst="rect">
              <a:avLst/>
            </a:prstGeom>
          </p:spPr>
          <p:txBody>
            <a:bodyPr anchor="ctr" rtlCol="false" tIns="0" lIns="0" bIns="0" rIns="0"/>
            <a:lstStyle/>
            <a:p>
              <a:pPr algn="ctr">
                <a:lnSpc>
                  <a:spcPts val="2160"/>
                </a:lnSpc>
              </a:pPr>
              <a:r>
                <a:rPr lang="en-US" sz="1800">
                  <a:solidFill>
                    <a:srgbClr val="000000"/>
                  </a:solidFill>
                  <a:latin typeface="Inter"/>
                  <a:ea typeface="Inter"/>
                  <a:cs typeface="Inter"/>
                  <a:sym typeface="Inter"/>
                </a:rPr>
                <a:t>6</a:t>
              </a:r>
            </a:p>
          </p:txBody>
        </p:sp>
      </p:grpSp>
      <p:sp>
        <p:nvSpPr>
          <p:cNvPr name="TextBox 45" id="45"/>
          <p:cNvSpPr txBox="true"/>
          <p:nvPr/>
        </p:nvSpPr>
        <p:spPr>
          <a:xfrm rot="0">
            <a:off x="9441952" y="7433662"/>
            <a:ext cx="7631459" cy="312391"/>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Human Approval</a:t>
            </a:r>
          </a:p>
        </p:txBody>
      </p:sp>
      <p:sp>
        <p:nvSpPr>
          <p:cNvPr name="TextBox 46" id="46"/>
          <p:cNvSpPr txBox="true"/>
          <p:nvPr/>
        </p:nvSpPr>
        <p:spPr>
          <a:xfrm rot="0">
            <a:off x="9441952" y="7789221"/>
            <a:ext cx="7631459" cy="323698"/>
          </a:xfrm>
          <a:prstGeom prst="rect">
            <a:avLst/>
          </a:prstGeom>
        </p:spPr>
        <p:txBody>
          <a:bodyPr anchor="t" rtlCol="false" tIns="0" lIns="0" bIns="0" rIns="0">
            <a:spAutoFit/>
          </a:bodyPr>
          <a:lstStyle/>
          <a:p>
            <a:pPr algn="l">
              <a:lnSpc>
                <a:spcPts val="2142"/>
              </a:lnSpc>
            </a:pPr>
            <a:r>
              <a:rPr lang="en-US" sz="1500">
                <a:solidFill>
                  <a:srgbClr val="55575A"/>
                </a:solidFill>
                <a:latin typeface="Arimo"/>
                <a:ea typeface="Arimo"/>
                <a:cs typeface="Arimo"/>
                <a:sym typeface="Arimo"/>
              </a:rPr>
              <a:t>Insert human-in-the-loop checkpoints before critical strategic decisions are finalized.</a:t>
            </a:r>
          </a:p>
        </p:txBody>
      </p:sp>
      <p:grpSp>
        <p:nvGrpSpPr>
          <p:cNvPr name="Group 47" id="47"/>
          <p:cNvGrpSpPr/>
          <p:nvPr/>
        </p:nvGrpSpPr>
        <p:grpSpPr>
          <a:xfrm rot="0">
            <a:off x="992238" y="8505530"/>
            <a:ext cx="16303523" cy="936422"/>
            <a:chOff x="0" y="0"/>
            <a:chExt cx="21738031" cy="1248562"/>
          </a:xfrm>
        </p:grpSpPr>
        <p:sp>
          <p:nvSpPr>
            <p:cNvPr name="Freeform 48" id="48"/>
            <p:cNvSpPr/>
            <p:nvPr/>
          </p:nvSpPr>
          <p:spPr>
            <a:xfrm flipH="false" flipV="false" rot="0">
              <a:off x="0" y="0"/>
              <a:ext cx="21737955" cy="1248537"/>
            </a:xfrm>
            <a:custGeom>
              <a:avLst/>
              <a:gdLst/>
              <a:ahLst/>
              <a:cxnLst/>
              <a:rect r="r" b="b" t="t" l="l"/>
              <a:pathLst>
                <a:path h="1248537" w="21737955">
                  <a:moveTo>
                    <a:pt x="0" y="232537"/>
                  </a:moveTo>
                  <a:cubicBezTo>
                    <a:pt x="0" y="104140"/>
                    <a:pt x="104140" y="0"/>
                    <a:pt x="232537" y="0"/>
                  </a:cubicBezTo>
                  <a:lnTo>
                    <a:pt x="21505418" y="0"/>
                  </a:lnTo>
                  <a:cubicBezTo>
                    <a:pt x="21633814" y="0"/>
                    <a:pt x="21737955" y="104140"/>
                    <a:pt x="21737955" y="232537"/>
                  </a:cubicBezTo>
                  <a:lnTo>
                    <a:pt x="21737955" y="1016000"/>
                  </a:lnTo>
                  <a:cubicBezTo>
                    <a:pt x="21737955" y="1144397"/>
                    <a:pt x="21633814" y="1248537"/>
                    <a:pt x="21505418" y="1248537"/>
                  </a:cubicBezTo>
                  <a:lnTo>
                    <a:pt x="232537" y="1248537"/>
                  </a:lnTo>
                  <a:cubicBezTo>
                    <a:pt x="104140" y="1248537"/>
                    <a:pt x="0" y="1144397"/>
                    <a:pt x="0" y="1016000"/>
                  </a:cubicBezTo>
                  <a:close/>
                </a:path>
              </a:pathLst>
            </a:custGeom>
            <a:solidFill>
              <a:srgbClr val="FFD7CC"/>
            </a:solidFill>
          </p:spPr>
        </p:sp>
      </p:grpSp>
      <p:grpSp>
        <p:nvGrpSpPr>
          <p:cNvPr name="Group 49" id="49"/>
          <p:cNvGrpSpPr/>
          <p:nvPr/>
        </p:nvGrpSpPr>
        <p:grpSpPr>
          <a:xfrm rot="0">
            <a:off x="1186015" y="8758980"/>
            <a:ext cx="242145" cy="193777"/>
            <a:chOff x="0" y="0"/>
            <a:chExt cx="322859" cy="258369"/>
          </a:xfrm>
        </p:grpSpPr>
        <p:sp>
          <p:nvSpPr>
            <p:cNvPr name="Freeform 50" id="50" descr="preencoded.png"/>
            <p:cNvSpPr/>
            <p:nvPr/>
          </p:nvSpPr>
          <p:spPr>
            <a:xfrm flipH="false" flipV="false" rot="0">
              <a:off x="0" y="0"/>
              <a:ext cx="322834" cy="258318"/>
            </a:xfrm>
            <a:custGeom>
              <a:avLst/>
              <a:gdLst/>
              <a:ahLst/>
              <a:cxnLst/>
              <a:rect r="r" b="b" t="t" l="l"/>
              <a:pathLst>
                <a:path h="258318" w="322834">
                  <a:moveTo>
                    <a:pt x="0" y="0"/>
                  </a:moveTo>
                  <a:lnTo>
                    <a:pt x="322834" y="0"/>
                  </a:lnTo>
                  <a:lnTo>
                    <a:pt x="322834" y="258318"/>
                  </a:lnTo>
                  <a:lnTo>
                    <a:pt x="0" y="258318"/>
                  </a:lnTo>
                  <a:lnTo>
                    <a:pt x="0" y="0"/>
                  </a:lnTo>
                  <a:close/>
                </a:path>
              </a:pathLst>
            </a:custGeom>
            <a:blipFill>
              <a:blip r:embed="rId8"/>
              <a:stretch>
                <a:fillRect l="0" t="-467" r="-7" b="-481"/>
              </a:stretch>
            </a:blipFill>
          </p:spPr>
        </p:sp>
      </p:grpSp>
      <p:sp>
        <p:nvSpPr>
          <p:cNvPr name="TextBox 51" id="51"/>
          <p:cNvSpPr txBox="true"/>
          <p:nvPr/>
        </p:nvSpPr>
        <p:spPr>
          <a:xfrm rot="0">
            <a:off x="1621927" y="8657625"/>
            <a:ext cx="15480059" cy="599780"/>
          </a:xfrm>
          <a:prstGeom prst="rect">
            <a:avLst/>
          </a:prstGeom>
        </p:spPr>
        <p:txBody>
          <a:bodyPr anchor="t" rtlCol="false" tIns="0" lIns="0" bIns="0" rIns="0">
            <a:spAutoFit/>
          </a:bodyPr>
          <a:lstStyle/>
          <a:p>
            <a:pPr algn="l">
              <a:lnSpc>
                <a:spcPts val="2142"/>
              </a:lnSpc>
            </a:pPr>
            <a:r>
              <a:rPr lang="en-US" sz="1500" b="true">
                <a:solidFill>
                  <a:srgbClr val="000000"/>
                </a:solidFill>
                <a:latin typeface="Arimo Bold"/>
                <a:ea typeface="Arimo Bold"/>
                <a:cs typeface="Arimo Bold"/>
                <a:sym typeface="Arimo Bold"/>
              </a:rPr>
              <a:t>Speaker Notes:</a:t>
            </a:r>
            <a:r>
              <a:rPr lang="en-US" sz="1500">
                <a:solidFill>
                  <a:srgbClr val="000000"/>
                </a:solidFill>
                <a:latin typeface="Arimo"/>
                <a:ea typeface="Arimo"/>
                <a:cs typeface="Arimo"/>
                <a:sym typeface="Arimo"/>
              </a:rPr>
              <a:t> Walk through each objective. Highlight that human approval is a deliberate design choice — AI assists, but humans retain control over strategic decisions. Shared memory is the key enabler for agent collaboration.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87476" y="742502"/>
            <a:ext cx="1241231" cy="327269"/>
            <a:chOff x="0" y="0"/>
            <a:chExt cx="1654975" cy="436359"/>
          </a:xfrm>
        </p:grpSpPr>
        <p:sp>
          <p:nvSpPr>
            <p:cNvPr name="Freeform 7" id="7"/>
            <p:cNvSpPr/>
            <p:nvPr/>
          </p:nvSpPr>
          <p:spPr>
            <a:xfrm flipH="false" flipV="false" rot="0">
              <a:off x="0" y="0"/>
              <a:ext cx="1655064" cy="436372"/>
            </a:xfrm>
            <a:custGeom>
              <a:avLst/>
              <a:gdLst/>
              <a:ahLst/>
              <a:cxnLst/>
              <a:rect r="r" b="b" t="t" l="l"/>
              <a:pathLst>
                <a:path h="436372" w="1655064">
                  <a:moveTo>
                    <a:pt x="0" y="207010"/>
                  </a:moveTo>
                  <a:cubicBezTo>
                    <a:pt x="0" y="92710"/>
                    <a:pt x="92710" y="0"/>
                    <a:pt x="207010" y="0"/>
                  </a:cubicBezTo>
                  <a:lnTo>
                    <a:pt x="1448054" y="0"/>
                  </a:lnTo>
                  <a:cubicBezTo>
                    <a:pt x="1562354" y="0"/>
                    <a:pt x="1655064" y="92710"/>
                    <a:pt x="1655064" y="207010"/>
                  </a:cubicBezTo>
                  <a:lnTo>
                    <a:pt x="1655064" y="229362"/>
                  </a:lnTo>
                  <a:cubicBezTo>
                    <a:pt x="1655064" y="343662"/>
                    <a:pt x="1562354" y="436372"/>
                    <a:pt x="1448054" y="436372"/>
                  </a:cubicBezTo>
                  <a:lnTo>
                    <a:pt x="207010" y="436372"/>
                  </a:lnTo>
                  <a:cubicBezTo>
                    <a:pt x="92710" y="436372"/>
                    <a:pt x="0" y="343662"/>
                    <a:pt x="0" y="229362"/>
                  </a:cubicBezTo>
                  <a:close/>
                </a:path>
              </a:pathLst>
            </a:custGeom>
            <a:blipFill>
              <a:blip r:embed="rId3">
                <a:alphaModFix amt="0"/>
              </a:blip>
              <a:stretch>
                <a:fillRect l="0" t="-23899" r="5" b="-23897"/>
              </a:stretch>
            </a:blipFill>
            <a:ln w="9526" cap="sq">
              <a:solidFill>
                <a:srgbClr val="FF7047"/>
              </a:solidFill>
              <a:prstDash val="solid"/>
              <a:miter/>
            </a:ln>
          </p:spPr>
        </p:sp>
      </p:grpSp>
      <p:sp>
        <p:nvSpPr>
          <p:cNvPr name="TextBox 8" id="8"/>
          <p:cNvSpPr txBox="true"/>
          <p:nvPr/>
        </p:nvSpPr>
        <p:spPr>
          <a:xfrm rot="0">
            <a:off x="1117702" y="800395"/>
            <a:ext cx="1895180" cy="201959"/>
          </a:xfrm>
          <a:prstGeom prst="rect">
            <a:avLst/>
          </a:prstGeom>
        </p:spPr>
        <p:txBody>
          <a:bodyPr anchor="t" rtlCol="false" tIns="0" lIns="0" bIns="0" rIns="0">
            <a:spAutoFit/>
          </a:bodyPr>
          <a:lstStyle/>
          <a:p>
            <a:pPr algn="l">
              <a:lnSpc>
                <a:spcPts val="1497"/>
              </a:lnSpc>
            </a:pPr>
            <a:r>
              <a:rPr lang="en-US" sz="1300">
                <a:solidFill>
                  <a:srgbClr val="FF7047"/>
                </a:solidFill>
                <a:latin typeface="Arimo"/>
                <a:ea typeface="Arimo"/>
                <a:cs typeface="Arimo"/>
                <a:sym typeface="Arimo"/>
              </a:rPr>
              <a:t>TECH STACK</a:t>
            </a:r>
          </a:p>
        </p:txBody>
      </p:sp>
      <p:sp>
        <p:nvSpPr>
          <p:cNvPr name="TextBox 9" id="9"/>
          <p:cNvSpPr txBox="true"/>
          <p:nvPr/>
        </p:nvSpPr>
        <p:spPr>
          <a:xfrm rot="0">
            <a:off x="992238" y="1106986"/>
            <a:ext cx="16303523" cy="682676"/>
          </a:xfrm>
          <a:prstGeom prst="rect">
            <a:avLst/>
          </a:prstGeom>
        </p:spPr>
        <p:txBody>
          <a:bodyPr anchor="t" rtlCol="false" tIns="0" lIns="0" bIns="0" rIns="0">
            <a:spAutoFit/>
          </a:bodyPr>
          <a:lstStyle/>
          <a:p>
            <a:pPr algn="l">
              <a:lnSpc>
                <a:spcPts val="5116"/>
              </a:lnSpc>
            </a:pPr>
            <a:r>
              <a:rPr lang="en-US" sz="4100">
                <a:solidFill>
                  <a:srgbClr val="0C0D0F"/>
                </a:solidFill>
                <a:latin typeface="Inter"/>
                <a:ea typeface="Inter"/>
                <a:cs typeface="Inter"/>
                <a:sym typeface="Inter"/>
              </a:rPr>
              <a:t>Technologies Used</a:t>
            </a:r>
          </a:p>
        </p:txBody>
      </p:sp>
      <p:sp>
        <p:nvSpPr>
          <p:cNvPr name="Freeform 10" id="10" descr="preencoded.png"/>
          <p:cNvSpPr/>
          <p:nvPr/>
        </p:nvSpPr>
        <p:spPr>
          <a:xfrm flipH="false" flipV="false" rot="0">
            <a:off x="992238" y="2253263"/>
            <a:ext cx="418652" cy="418652"/>
          </a:xfrm>
          <a:custGeom>
            <a:avLst/>
            <a:gdLst/>
            <a:ahLst/>
            <a:cxnLst/>
            <a:rect r="r" b="b" t="t" l="l"/>
            <a:pathLst>
              <a:path h="418652" w="418652">
                <a:moveTo>
                  <a:pt x="0" y="0"/>
                </a:moveTo>
                <a:lnTo>
                  <a:pt x="418653" y="0"/>
                </a:lnTo>
                <a:lnTo>
                  <a:pt x="418653" y="418652"/>
                </a:lnTo>
                <a:lnTo>
                  <a:pt x="0" y="418652"/>
                </a:lnTo>
                <a:lnTo>
                  <a:pt x="0" y="0"/>
                </a:lnTo>
                <a:close/>
              </a:path>
            </a:pathLst>
          </a:custGeom>
          <a:blipFill>
            <a:blip r:embed="rId4">
              <a:extLst>
                <a:ext uri="{96DAC541-7B7A-43D3-8B79-37D633B846F1}">
                  <asvg:svgBlip xmlns:asvg="http://schemas.microsoft.com/office/drawing/2016/SVG/main" r:embed="rId5"/>
                </a:ext>
              </a:extLst>
            </a:blip>
            <a:stretch>
              <a:fillRect l="0" t="-23864" r="0" b="-23864"/>
            </a:stretch>
          </a:blipFill>
        </p:spPr>
      </p:sp>
      <p:sp>
        <p:nvSpPr>
          <p:cNvPr name="TextBox 11" id="11"/>
          <p:cNvSpPr txBox="true"/>
          <p:nvPr/>
        </p:nvSpPr>
        <p:spPr>
          <a:xfrm rot="0">
            <a:off x="1631604" y="2315613"/>
            <a:ext cx="8097736" cy="336499"/>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OpenAI Agents SDK</a:t>
            </a:r>
          </a:p>
        </p:txBody>
      </p:sp>
      <p:sp>
        <p:nvSpPr>
          <p:cNvPr name="TextBox 12" id="12"/>
          <p:cNvSpPr txBox="true"/>
          <p:nvPr/>
        </p:nvSpPr>
        <p:spPr>
          <a:xfrm rot="0">
            <a:off x="1631604" y="2771480"/>
            <a:ext cx="8097736" cy="674789"/>
          </a:xfrm>
          <a:prstGeom prst="rect">
            <a:avLst/>
          </a:prstGeom>
        </p:spPr>
        <p:txBody>
          <a:bodyPr anchor="t" rtlCol="false" tIns="0" lIns="0" bIns="0" rIns="0">
            <a:spAutoFit/>
          </a:bodyPr>
          <a:lstStyle/>
          <a:p>
            <a:pPr algn="l">
              <a:lnSpc>
                <a:spcPts val="2361"/>
              </a:lnSpc>
            </a:pPr>
            <a:r>
              <a:rPr lang="en-US" sz="1600">
                <a:solidFill>
                  <a:srgbClr val="55575A"/>
                </a:solidFill>
                <a:latin typeface="Arimo"/>
                <a:ea typeface="Arimo"/>
                <a:cs typeface="Arimo"/>
                <a:sym typeface="Arimo"/>
              </a:rPr>
              <a:t>Core framework for building, orchestrating, and managing AI agents with built-in memory and tool support.</a:t>
            </a:r>
          </a:p>
        </p:txBody>
      </p:sp>
      <p:sp>
        <p:nvSpPr>
          <p:cNvPr name="Freeform 13" id="13" descr="preencoded.png"/>
          <p:cNvSpPr/>
          <p:nvPr/>
        </p:nvSpPr>
        <p:spPr>
          <a:xfrm flipH="false" flipV="false" rot="0">
            <a:off x="992238" y="3799437"/>
            <a:ext cx="418652" cy="418652"/>
          </a:xfrm>
          <a:custGeom>
            <a:avLst/>
            <a:gdLst/>
            <a:ahLst/>
            <a:cxnLst/>
            <a:rect r="r" b="b" t="t" l="l"/>
            <a:pathLst>
              <a:path h="418652" w="418652">
                <a:moveTo>
                  <a:pt x="0" y="0"/>
                </a:moveTo>
                <a:lnTo>
                  <a:pt x="418653" y="0"/>
                </a:lnTo>
                <a:lnTo>
                  <a:pt x="418653" y="418652"/>
                </a:lnTo>
                <a:lnTo>
                  <a:pt x="0" y="418652"/>
                </a:lnTo>
                <a:lnTo>
                  <a:pt x="0" y="0"/>
                </a:lnTo>
                <a:close/>
              </a:path>
            </a:pathLst>
          </a:custGeom>
          <a:blipFill>
            <a:blip r:embed="rId6">
              <a:extLst>
                <a:ext uri="{96DAC541-7B7A-43D3-8B79-37D633B846F1}">
                  <asvg:svgBlip xmlns:asvg="http://schemas.microsoft.com/office/drawing/2016/SVG/main" r:embed="rId7"/>
                </a:ext>
              </a:extLst>
            </a:blip>
            <a:stretch>
              <a:fillRect l="-1135" t="0" r="-1137" b="0"/>
            </a:stretch>
          </a:blipFill>
        </p:spPr>
      </p:sp>
      <p:sp>
        <p:nvSpPr>
          <p:cNvPr name="TextBox 14" id="14"/>
          <p:cNvSpPr txBox="true"/>
          <p:nvPr/>
        </p:nvSpPr>
        <p:spPr>
          <a:xfrm rot="0">
            <a:off x="1631604" y="3861797"/>
            <a:ext cx="8097736" cy="336499"/>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TypeScript + Node.js</a:t>
            </a:r>
          </a:p>
        </p:txBody>
      </p:sp>
      <p:sp>
        <p:nvSpPr>
          <p:cNvPr name="TextBox 15" id="15"/>
          <p:cNvSpPr txBox="true"/>
          <p:nvPr/>
        </p:nvSpPr>
        <p:spPr>
          <a:xfrm rot="0">
            <a:off x="1631604" y="4317654"/>
            <a:ext cx="8097736" cy="674789"/>
          </a:xfrm>
          <a:prstGeom prst="rect">
            <a:avLst/>
          </a:prstGeom>
        </p:spPr>
        <p:txBody>
          <a:bodyPr anchor="t" rtlCol="false" tIns="0" lIns="0" bIns="0" rIns="0">
            <a:spAutoFit/>
          </a:bodyPr>
          <a:lstStyle/>
          <a:p>
            <a:pPr algn="l">
              <a:lnSpc>
                <a:spcPts val="2361"/>
              </a:lnSpc>
            </a:pPr>
            <a:r>
              <a:rPr lang="en-US" sz="1600">
                <a:solidFill>
                  <a:srgbClr val="55575A"/>
                </a:solidFill>
                <a:latin typeface="Arimo"/>
                <a:ea typeface="Arimo"/>
                <a:cs typeface="Arimo"/>
                <a:sym typeface="Arimo"/>
              </a:rPr>
              <a:t>Type-safe backend runtime ensuring reliable, maintainable agent logic and API integrations.</a:t>
            </a:r>
          </a:p>
        </p:txBody>
      </p:sp>
      <p:sp>
        <p:nvSpPr>
          <p:cNvPr name="Freeform 16" id="16" descr="preencoded.png"/>
          <p:cNvSpPr/>
          <p:nvPr/>
        </p:nvSpPr>
        <p:spPr>
          <a:xfrm flipH="false" flipV="false" rot="0">
            <a:off x="992238" y="5345611"/>
            <a:ext cx="418652" cy="418652"/>
          </a:xfrm>
          <a:custGeom>
            <a:avLst/>
            <a:gdLst/>
            <a:ahLst/>
            <a:cxnLst/>
            <a:rect r="r" b="b" t="t" l="l"/>
            <a:pathLst>
              <a:path h="418652" w="418652">
                <a:moveTo>
                  <a:pt x="0" y="0"/>
                </a:moveTo>
                <a:lnTo>
                  <a:pt x="418653" y="0"/>
                </a:lnTo>
                <a:lnTo>
                  <a:pt x="418653" y="418652"/>
                </a:lnTo>
                <a:lnTo>
                  <a:pt x="0" y="418652"/>
                </a:lnTo>
                <a:lnTo>
                  <a:pt x="0" y="0"/>
                </a:lnTo>
                <a:close/>
              </a:path>
            </a:pathLst>
          </a:custGeom>
          <a:blipFill>
            <a:blip r:embed="rId8">
              <a:extLst>
                <a:ext uri="{96DAC541-7B7A-43D3-8B79-37D633B846F1}">
                  <asvg:svgBlip xmlns:asvg="http://schemas.microsoft.com/office/drawing/2016/SVG/main" r:embed="rId9"/>
                </a:ext>
              </a:extLst>
            </a:blip>
            <a:stretch>
              <a:fillRect l="0" t="-20453" r="0" b="-20455"/>
            </a:stretch>
          </a:blipFill>
        </p:spPr>
      </p:sp>
      <p:sp>
        <p:nvSpPr>
          <p:cNvPr name="TextBox 17" id="17"/>
          <p:cNvSpPr txBox="true"/>
          <p:nvPr/>
        </p:nvSpPr>
        <p:spPr>
          <a:xfrm rot="0">
            <a:off x="1631604" y="5407971"/>
            <a:ext cx="8097736" cy="336499"/>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Zod + dotenv</a:t>
            </a:r>
          </a:p>
        </p:txBody>
      </p:sp>
      <p:sp>
        <p:nvSpPr>
          <p:cNvPr name="TextBox 18" id="18"/>
          <p:cNvSpPr txBox="true"/>
          <p:nvPr/>
        </p:nvSpPr>
        <p:spPr>
          <a:xfrm rot="0">
            <a:off x="1631604" y="5863828"/>
            <a:ext cx="8097736" cy="674789"/>
          </a:xfrm>
          <a:prstGeom prst="rect">
            <a:avLst/>
          </a:prstGeom>
        </p:spPr>
        <p:txBody>
          <a:bodyPr anchor="t" rtlCol="false" tIns="0" lIns="0" bIns="0" rIns="0">
            <a:spAutoFit/>
          </a:bodyPr>
          <a:lstStyle/>
          <a:p>
            <a:pPr algn="l">
              <a:lnSpc>
                <a:spcPts val="2361"/>
              </a:lnSpc>
            </a:pPr>
            <a:r>
              <a:rPr lang="en-US" sz="1600">
                <a:solidFill>
                  <a:srgbClr val="55575A"/>
                </a:solidFill>
                <a:latin typeface="Arimo"/>
                <a:ea typeface="Arimo"/>
                <a:cs typeface="Arimo"/>
                <a:sym typeface="Arimo"/>
              </a:rPr>
              <a:t>Zod provides runtime schema validation for structured outputs; dotenv manages environment configuration securely.</a:t>
            </a:r>
          </a:p>
        </p:txBody>
      </p:sp>
      <p:sp>
        <p:nvSpPr>
          <p:cNvPr name="Freeform 19" id="19" descr="preencoded.png"/>
          <p:cNvSpPr/>
          <p:nvPr/>
        </p:nvSpPr>
        <p:spPr>
          <a:xfrm flipH="false" flipV="false" rot="0">
            <a:off x="992238" y="6891785"/>
            <a:ext cx="418652" cy="418652"/>
          </a:xfrm>
          <a:custGeom>
            <a:avLst/>
            <a:gdLst/>
            <a:ahLst/>
            <a:cxnLst/>
            <a:rect r="r" b="b" t="t" l="l"/>
            <a:pathLst>
              <a:path h="418652" w="418652">
                <a:moveTo>
                  <a:pt x="0" y="0"/>
                </a:moveTo>
                <a:lnTo>
                  <a:pt x="418653" y="0"/>
                </a:lnTo>
                <a:lnTo>
                  <a:pt x="418653" y="418653"/>
                </a:lnTo>
                <a:lnTo>
                  <a:pt x="0" y="418653"/>
                </a:lnTo>
                <a:lnTo>
                  <a:pt x="0" y="0"/>
                </a:lnTo>
                <a:close/>
              </a:path>
            </a:pathLst>
          </a:custGeom>
          <a:blipFill>
            <a:blip r:embed="rId10">
              <a:extLst>
                <a:ext uri="{96DAC541-7B7A-43D3-8B79-37D633B846F1}">
                  <asvg:svgBlip xmlns:asvg="http://schemas.microsoft.com/office/drawing/2016/SVG/main" r:embed="rId11"/>
                </a:ext>
              </a:extLst>
            </a:blip>
            <a:stretch>
              <a:fillRect l="0" t="-7953" r="0" b="-7956"/>
            </a:stretch>
          </a:blipFill>
        </p:spPr>
      </p:sp>
      <p:sp>
        <p:nvSpPr>
          <p:cNvPr name="TextBox 20" id="20"/>
          <p:cNvSpPr txBox="true"/>
          <p:nvPr/>
        </p:nvSpPr>
        <p:spPr>
          <a:xfrm rot="0">
            <a:off x="1631604" y="6954145"/>
            <a:ext cx="8097736" cy="336499"/>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Shared Memory Architecture</a:t>
            </a:r>
          </a:p>
        </p:txBody>
      </p:sp>
      <p:sp>
        <p:nvSpPr>
          <p:cNvPr name="TextBox 21" id="21"/>
          <p:cNvSpPr txBox="true"/>
          <p:nvPr/>
        </p:nvSpPr>
        <p:spPr>
          <a:xfrm rot="0">
            <a:off x="1631604" y="7410002"/>
            <a:ext cx="8097736" cy="674789"/>
          </a:xfrm>
          <a:prstGeom prst="rect">
            <a:avLst/>
          </a:prstGeom>
        </p:spPr>
        <p:txBody>
          <a:bodyPr anchor="t" rtlCol="false" tIns="0" lIns="0" bIns="0" rIns="0">
            <a:spAutoFit/>
          </a:bodyPr>
          <a:lstStyle/>
          <a:p>
            <a:pPr algn="l">
              <a:lnSpc>
                <a:spcPts val="2361"/>
              </a:lnSpc>
            </a:pPr>
            <a:r>
              <a:rPr lang="en-US" sz="1600">
                <a:solidFill>
                  <a:srgbClr val="55575A"/>
                </a:solidFill>
                <a:latin typeface="Arimo"/>
                <a:ea typeface="Arimo"/>
                <a:cs typeface="Arimo"/>
                <a:sym typeface="Arimo"/>
              </a:rPr>
              <a:t>A centralized memory store allowing all agents to read, write, and reference shared product context.</a:t>
            </a:r>
          </a:p>
        </p:txBody>
      </p:sp>
      <p:grpSp>
        <p:nvGrpSpPr>
          <p:cNvPr name="Group 22" id="22"/>
          <p:cNvGrpSpPr/>
          <p:nvPr/>
        </p:nvGrpSpPr>
        <p:grpSpPr>
          <a:xfrm rot="0">
            <a:off x="10098729" y="2054571"/>
            <a:ext cx="7357024" cy="6228902"/>
            <a:chOff x="0" y="0"/>
            <a:chExt cx="9809366" cy="8305203"/>
          </a:xfrm>
        </p:grpSpPr>
        <p:sp>
          <p:nvSpPr>
            <p:cNvPr name="Freeform 23" id="23"/>
            <p:cNvSpPr/>
            <p:nvPr/>
          </p:nvSpPr>
          <p:spPr>
            <a:xfrm flipH="false" flipV="false" rot="0">
              <a:off x="0" y="0"/>
              <a:ext cx="9809226" cy="8305165"/>
            </a:xfrm>
            <a:custGeom>
              <a:avLst/>
              <a:gdLst/>
              <a:ahLst/>
              <a:cxnLst/>
              <a:rect r="r" b="b" t="t" l="l"/>
              <a:pathLst>
                <a:path h="8305165" w="9809226">
                  <a:moveTo>
                    <a:pt x="0" y="401828"/>
                  </a:moveTo>
                  <a:cubicBezTo>
                    <a:pt x="0" y="179959"/>
                    <a:pt x="179959" y="0"/>
                    <a:pt x="401828" y="0"/>
                  </a:cubicBezTo>
                  <a:lnTo>
                    <a:pt x="9407398" y="0"/>
                  </a:lnTo>
                  <a:cubicBezTo>
                    <a:pt x="9629394" y="0"/>
                    <a:pt x="9809226" y="179959"/>
                    <a:pt x="9809226" y="401828"/>
                  </a:cubicBezTo>
                  <a:lnTo>
                    <a:pt x="9809226" y="7903337"/>
                  </a:lnTo>
                  <a:cubicBezTo>
                    <a:pt x="9809226" y="8125333"/>
                    <a:pt x="9629267" y="8305165"/>
                    <a:pt x="9407398" y="8305165"/>
                  </a:cubicBezTo>
                  <a:lnTo>
                    <a:pt x="401828" y="8305165"/>
                  </a:lnTo>
                  <a:cubicBezTo>
                    <a:pt x="179959" y="8305165"/>
                    <a:pt x="0" y="8125333"/>
                    <a:pt x="0" y="7903337"/>
                  </a:cubicBezTo>
                  <a:close/>
                </a:path>
              </a:pathLst>
            </a:custGeom>
            <a:solidFill>
              <a:srgbClr val="FF7047"/>
            </a:solidFill>
          </p:spPr>
        </p:sp>
      </p:grpSp>
      <p:sp>
        <p:nvSpPr>
          <p:cNvPr name="TextBox 24" id="24"/>
          <p:cNvSpPr txBox="true"/>
          <p:nvPr/>
        </p:nvSpPr>
        <p:spPr>
          <a:xfrm rot="0">
            <a:off x="10307984" y="2221554"/>
            <a:ext cx="6938515" cy="336499"/>
          </a:xfrm>
          <a:prstGeom prst="rect">
            <a:avLst/>
          </a:prstGeom>
        </p:spPr>
        <p:txBody>
          <a:bodyPr anchor="t" rtlCol="false" tIns="0" lIns="0" bIns="0" rIns="0">
            <a:spAutoFit/>
          </a:bodyPr>
          <a:lstStyle/>
          <a:p>
            <a:pPr algn="l">
              <a:lnSpc>
                <a:spcPts val="2496"/>
              </a:lnSpc>
            </a:pPr>
            <a:r>
              <a:rPr lang="en-US" sz="2000">
                <a:solidFill>
                  <a:srgbClr val="0C0D0F"/>
                </a:solidFill>
                <a:latin typeface="Inter"/>
                <a:ea typeface="Inter"/>
                <a:cs typeface="Inter"/>
                <a:sym typeface="Inter"/>
              </a:rPr>
              <a:t>Architecture Pattern</a:t>
            </a:r>
          </a:p>
        </p:txBody>
      </p:sp>
      <p:sp>
        <p:nvSpPr>
          <p:cNvPr name="TextBox 25" id="25"/>
          <p:cNvSpPr txBox="true"/>
          <p:nvPr/>
        </p:nvSpPr>
        <p:spPr>
          <a:xfrm rot="0">
            <a:off x="10307984" y="2677420"/>
            <a:ext cx="6938515" cy="983609"/>
          </a:xfrm>
          <a:prstGeom prst="rect">
            <a:avLst/>
          </a:prstGeom>
        </p:spPr>
        <p:txBody>
          <a:bodyPr anchor="t" rtlCol="false" tIns="0" lIns="0" bIns="0" rIns="0">
            <a:spAutoFit/>
          </a:bodyPr>
          <a:lstStyle/>
          <a:p>
            <a:pPr algn="l">
              <a:lnSpc>
                <a:spcPts val="2361"/>
              </a:lnSpc>
            </a:pPr>
            <a:r>
              <a:rPr lang="en-US" sz="1600">
                <a:solidFill>
                  <a:srgbClr val="000000"/>
                </a:solidFill>
                <a:latin typeface="Arimo"/>
                <a:ea typeface="Arimo"/>
                <a:cs typeface="Arimo"/>
                <a:sym typeface="Arimo"/>
              </a:rPr>
              <a:t>Multi-Agent Architecture with sequential handoffs and a shared memory bus. Each agent operates as an independent unit while contributing to a unified product planning pipeline.</a:t>
            </a:r>
          </a:p>
        </p:txBody>
      </p:sp>
      <p:grpSp>
        <p:nvGrpSpPr>
          <p:cNvPr name="Group 26" id="26"/>
          <p:cNvGrpSpPr/>
          <p:nvPr/>
        </p:nvGrpSpPr>
        <p:grpSpPr>
          <a:xfrm rot="0">
            <a:off x="10307984" y="3911946"/>
            <a:ext cx="6938515" cy="28575"/>
            <a:chOff x="0" y="0"/>
            <a:chExt cx="9251353" cy="38100"/>
          </a:xfrm>
        </p:grpSpPr>
        <p:sp>
          <p:nvSpPr>
            <p:cNvPr name="Freeform 27" id="27"/>
            <p:cNvSpPr/>
            <p:nvPr/>
          </p:nvSpPr>
          <p:spPr>
            <a:xfrm flipH="false" flipV="false" rot="0">
              <a:off x="0" y="0"/>
              <a:ext cx="9251315" cy="38100"/>
            </a:xfrm>
            <a:custGeom>
              <a:avLst/>
              <a:gdLst/>
              <a:ahLst/>
              <a:cxnLst/>
              <a:rect r="r" b="b" t="t" l="l"/>
              <a:pathLst>
                <a:path h="38100" w="9251315">
                  <a:moveTo>
                    <a:pt x="0" y="19050"/>
                  </a:moveTo>
                  <a:cubicBezTo>
                    <a:pt x="0" y="8509"/>
                    <a:pt x="8509" y="0"/>
                    <a:pt x="19050" y="0"/>
                  </a:cubicBezTo>
                  <a:lnTo>
                    <a:pt x="9232265" y="0"/>
                  </a:lnTo>
                  <a:cubicBezTo>
                    <a:pt x="9242806" y="0"/>
                    <a:pt x="9251315" y="8509"/>
                    <a:pt x="9251315" y="19050"/>
                  </a:cubicBezTo>
                  <a:cubicBezTo>
                    <a:pt x="9251315" y="29591"/>
                    <a:pt x="9242806" y="38100"/>
                    <a:pt x="9232265" y="38100"/>
                  </a:cubicBezTo>
                  <a:lnTo>
                    <a:pt x="19050" y="38100"/>
                  </a:lnTo>
                  <a:cubicBezTo>
                    <a:pt x="8509" y="38100"/>
                    <a:pt x="0" y="29591"/>
                    <a:pt x="0" y="19050"/>
                  </a:cubicBezTo>
                  <a:close/>
                </a:path>
              </a:pathLst>
            </a:custGeom>
            <a:solidFill>
              <a:srgbClr val="000000">
                <a:alpha val="24706"/>
              </a:srgbClr>
            </a:solidFill>
          </p:spPr>
        </p:sp>
      </p:grpSp>
      <p:sp>
        <p:nvSpPr>
          <p:cNvPr name="TextBox 28" id="28"/>
          <p:cNvSpPr txBox="true"/>
          <p:nvPr/>
        </p:nvSpPr>
        <p:spPr>
          <a:xfrm rot="0">
            <a:off x="10307984" y="4134298"/>
            <a:ext cx="6938515" cy="674789"/>
          </a:xfrm>
          <a:prstGeom prst="rect">
            <a:avLst/>
          </a:prstGeom>
        </p:spPr>
        <p:txBody>
          <a:bodyPr anchor="t" rtlCol="false" tIns="0" lIns="0" bIns="0" rIns="0">
            <a:spAutoFit/>
          </a:bodyPr>
          <a:lstStyle/>
          <a:p>
            <a:pPr algn="l">
              <a:lnSpc>
                <a:spcPts val="2361"/>
              </a:lnSpc>
            </a:pPr>
            <a:r>
              <a:rPr lang="en-US" sz="1600">
                <a:solidFill>
                  <a:srgbClr val="000000"/>
                </a:solidFill>
                <a:latin typeface="Arimo"/>
                <a:ea typeface="Arimo"/>
                <a:cs typeface="Arimo"/>
                <a:sym typeface="Arimo"/>
              </a:rPr>
              <a:t>The architecture ensures loose coupling between agents while maintaining strong data consistency through the shared memory layer.</a:t>
            </a:r>
          </a:p>
        </p:txBody>
      </p:sp>
      <p:grpSp>
        <p:nvGrpSpPr>
          <p:cNvPr name="Group 29" id="29"/>
          <p:cNvGrpSpPr/>
          <p:nvPr/>
        </p:nvGrpSpPr>
        <p:grpSpPr>
          <a:xfrm rot="0">
            <a:off x="992238" y="8482165"/>
            <a:ext cx="16303523" cy="1057570"/>
            <a:chOff x="0" y="0"/>
            <a:chExt cx="21738031" cy="1410094"/>
          </a:xfrm>
        </p:grpSpPr>
        <p:sp>
          <p:nvSpPr>
            <p:cNvPr name="Freeform 30" id="30"/>
            <p:cNvSpPr/>
            <p:nvPr/>
          </p:nvSpPr>
          <p:spPr>
            <a:xfrm flipH="false" flipV="false" rot="0">
              <a:off x="0" y="0"/>
              <a:ext cx="21738082" cy="1410081"/>
            </a:xfrm>
            <a:custGeom>
              <a:avLst/>
              <a:gdLst/>
              <a:ahLst/>
              <a:cxnLst/>
              <a:rect r="r" b="b" t="t" l="l"/>
              <a:pathLst>
                <a:path h="1410081" w="21738082">
                  <a:moveTo>
                    <a:pt x="0" y="251206"/>
                  </a:moveTo>
                  <a:cubicBezTo>
                    <a:pt x="0" y="112522"/>
                    <a:pt x="112522" y="0"/>
                    <a:pt x="251206" y="0"/>
                  </a:cubicBezTo>
                  <a:lnTo>
                    <a:pt x="21486876" y="0"/>
                  </a:lnTo>
                  <a:cubicBezTo>
                    <a:pt x="21625559" y="0"/>
                    <a:pt x="21738082" y="112522"/>
                    <a:pt x="21738082" y="251206"/>
                  </a:cubicBezTo>
                  <a:lnTo>
                    <a:pt x="21738082" y="1158875"/>
                  </a:lnTo>
                  <a:cubicBezTo>
                    <a:pt x="21738082" y="1297559"/>
                    <a:pt x="21625559" y="1410081"/>
                    <a:pt x="21486876" y="1410081"/>
                  </a:cubicBezTo>
                  <a:lnTo>
                    <a:pt x="251206" y="1410081"/>
                  </a:lnTo>
                  <a:cubicBezTo>
                    <a:pt x="112522" y="1410081"/>
                    <a:pt x="0" y="1297686"/>
                    <a:pt x="0" y="1158875"/>
                  </a:cubicBezTo>
                  <a:close/>
                </a:path>
              </a:pathLst>
            </a:custGeom>
            <a:solidFill>
              <a:srgbClr val="FFD7CC"/>
            </a:solidFill>
          </p:spPr>
        </p:sp>
      </p:grpSp>
      <p:grpSp>
        <p:nvGrpSpPr>
          <p:cNvPr name="Group 31" id="31"/>
          <p:cNvGrpSpPr/>
          <p:nvPr/>
        </p:nvGrpSpPr>
        <p:grpSpPr>
          <a:xfrm rot="0">
            <a:off x="1201493" y="8769991"/>
            <a:ext cx="261642" cy="209255"/>
            <a:chOff x="0" y="0"/>
            <a:chExt cx="348856" cy="279006"/>
          </a:xfrm>
        </p:grpSpPr>
        <p:sp>
          <p:nvSpPr>
            <p:cNvPr name="Freeform 32" id="32" descr="preencoded.png"/>
            <p:cNvSpPr/>
            <p:nvPr/>
          </p:nvSpPr>
          <p:spPr>
            <a:xfrm flipH="false" flipV="false" rot="0">
              <a:off x="0" y="0"/>
              <a:ext cx="348869" cy="279019"/>
            </a:xfrm>
            <a:custGeom>
              <a:avLst/>
              <a:gdLst/>
              <a:ahLst/>
              <a:cxnLst/>
              <a:rect r="r" b="b" t="t" l="l"/>
              <a:pathLst>
                <a:path h="279019" w="348869">
                  <a:moveTo>
                    <a:pt x="0" y="0"/>
                  </a:moveTo>
                  <a:lnTo>
                    <a:pt x="348869" y="0"/>
                  </a:lnTo>
                  <a:lnTo>
                    <a:pt x="348869" y="279019"/>
                  </a:lnTo>
                  <a:lnTo>
                    <a:pt x="0" y="279019"/>
                  </a:lnTo>
                  <a:lnTo>
                    <a:pt x="0" y="0"/>
                  </a:lnTo>
                  <a:close/>
                </a:path>
              </a:pathLst>
            </a:custGeom>
            <a:blipFill>
              <a:blip r:embed="rId12"/>
              <a:stretch>
                <a:fillRect l="-895" t="0" r="-888" b="4"/>
              </a:stretch>
            </a:blipFill>
          </p:spPr>
        </p:sp>
      </p:grpSp>
      <p:sp>
        <p:nvSpPr>
          <p:cNvPr name="TextBox 33" id="33"/>
          <p:cNvSpPr txBox="true"/>
          <p:nvPr/>
        </p:nvSpPr>
        <p:spPr>
          <a:xfrm rot="0">
            <a:off x="1672380" y="8653758"/>
            <a:ext cx="15414127" cy="674789"/>
          </a:xfrm>
          <a:prstGeom prst="rect">
            <a:avLst/>
          </a:prstGeom>
        </p:spPr>
        <p:txBody>
          <a:bodyPr anchor="t" rtlCol="false" tIns="0" lIns="0" bIns="0" rIns="0">
            <a:spAutoFit/>
          </a:bodyPr>
          <a:lstStyle/>
          <a:p>
            <a:pPr algn="l">
              <a:lnSpc>
                <a:spcPts val="2361"/>
              </a:lnSpc>
            </a:pPr>
            <a:r>
              <a:rPr lang="en-US" sz="1600" b="true">
                <a:solidFill>
                  <a:srgbClr val="000000"/>
                </a:solidFill>
                <a:latin typeface="Arimo Bold"/>
                <a:ea typeface="Arimo Bold"/>
                <a:cs typeface="Arimo Bold"/>
                <a:sym typeface="Arimo Bold"/>
              </a:rPr>
              <a:t>Speaker Notes:</a:t>
            </a:r>
            <a:r>
              <a:rPr lang="en-US" sz="1600">
                <a:solidFill>
                  <a:srgbClr val="000000"/>
                </a:solidFill>
                <a:latin typeface="Arimo"/>
                <a:ea typeface="Arimo"/>
                <a:cs typeface="Arimo"/>
                <a:sym typeface="Arimo"/>
              </a:rPr>
              <a:t> The OpenAI Agents SDK is the centerpiece — it provides agent orchestration, memory management, and tool calling out of the box. TypeScript and Zod ensure type safety and output validation. Shared memory is what makes multi-agent collaboration possible.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066648" y="840134"/>
            <a:ext cx="1257005" cy="188566"/>
            <a:chOff x="0" y="0"/>
            <a:chExt cx="1676006" cy="251422"/>
          </a:xfrm>
        </p:grpSpPr>
        <p:sp>
          <p:nvSpPr>
            <p:cNvPr name="Freeform 7" id="7"/>
            <p:cNvSpPr/>
            <p:nvPr/>
          </p:nvSpPr>
          <p:spPr>
            <a:xfrm flipH="false" flipV="false" rot="0">
              <a:off x="0" y="0"/>
              <a:ext cx="1676019" cy="251460"/>
            </a:xfrm>
            <a:custGeom>
              <a:avLst/>
              <a:gdLst/>
              <a:ahLst/>
              <a:cxnLst/>
              <a:rect r="r" b="b" t="t" l="l"/>
              <a:pathLst>
                <a:path h="251460" w="1676019">
                  <a:moveTo>
                    <a:pt x="0" y="119126"/>
                  </a:moveTo>
                  <a:cubicBezTo>
                    <a:pt x="0" y="53340"/>
                    <a:pt x="53340" y="0"/>
                    <a:pt x="119126" y="0"/>
                  </a:cubicBezTo>
                  <a:lnTo>
                    <a:pt x="1556893" y="0"/>
                  </a:lnTo>
                  <a:cubicBezTo>
                    <a:pt x="1622679" y="0"/>
                    <a:pt x="1676019" y="53340"/>
                    <a:pt x="1676019" y="119126"/>
                  </a:cubicBezTo>
                  <a:lnTo>
                    <a:pt x="1676019" y="132334"/>
                  </a:lnTo>
                  <a:cubicBezTo>
                    <a:pt x="1676019" y="198120"/>
                    <a:pt x="1622679" y="251460"/>
                    <a:pt x="1556893" y="251460"/>
                  </a:cubicBezTo>
                  <a:lnTo>
                    <a:pt x="119126" y="251460"/>
                  </a:lnTo>
                  <a:cubicBezTo>
                    <a:pt x="53340" y="251460"/>
                    <a:pt x="0" y="198120"/>
                    <a:pt x="0" y="132334"/>
                  </a:cubicBezTo>
                  <a:close/>
                </a:path>
              </a:pathLst>
            </a:custGeom>
            <a:solidFill>
              <a:srgbClr val="FFD7CC"/>
            </a:solidFill>
          </p:spPr>
        </p:sp>
      </p:grpSp>
      <p:sp>
        <p:nvSpPr>
          <p:cNvPr name="TextBox 8" id="8"/>
          <p:cNvSpPr txBox="true"/>
          <p:nvPr/>
        </p:nvSpPr>
        <p:spPr>
          <a:xfrm rot="0">
            <a:off x="1028700" y="1204251"/>
            <a:ext cx="2173010" cy="227609"/>
          </a:xfrm>
          <a:prstGeom prst="rect">
            <a:avLst/>
          </a:prstGeom>
        </p:spPr>
        <p:txBody>
          <a:bodyPr anchor="t" rtlCol="false" tIns="0" lIns="0" bIns="0" rIns="0">
            <a:spAutoFit/>
          </a:bodyPr>
          <a:lstStyle/>
          <a:p>
            <a:pPr algn="l">
              <a:lnSpc>
                <a:spcPts val="1612"/>
              </a:lnSpc>
            </a:pPr>
            <a:r>
              <a:rPr lang="en-US" sz="1399">
                <a:solidFill>
                  <a:srgbClr val="55575A"/>
                </a:solidFill>
                <a:latin typeface="Arimo"/>
                <a:ea typeface="Arimo"/>
                <a:cs typeface="Arimo"/>
                <a:sym typeface="Arimo"/>
              </a:rPr>
              <a:t>SYSTEM ARCHITECTURE</a:t>
            </a:r>
          </a:p>
        </p:txBody>
      </p:sp>
      <p:sp>
        <p:nvSpPr>
          <p:cNvPr name="TextBox 9" id="9"/>
          <p:cNvSpPr txBox="true"/>
          <p:nvPr/>
        </p:nvSpPr>
        <p:spPr>
          <a:xfrm rot="0">
            <a:off x="1066648" y="1612835"/>
            <a:ext cx="4338399" cy="403250"/>
          </a:xfrm>
          <a:prstGeom prst="rect">
            <a:avLst/>
          </a:prstGeom>
        </p:spPr>
        <p:txBody>
          <a:bodyPr anchor="t" rtlCol="false" tIns="0" lIns="0" bIns="0" rIns="0">
            <a:spAutoFit/>
          </a:bodyPr>
          <a:lstStyle/>
          <a:p>
            <a:pPr algn="l">
              <a:lnSpc>
                <a:spcPts val="3244"/>
              </a:lnSpc>
            </a:pPr>
            <a:r>
              <a:rPr lang="en-US" sz="2599">
                <a:solidFill>
                  <a:srgbClr val="0C0D0F"/>
                </a:solidFill>
                <a:latin typeface="Inter"/>
                <a:ea typeface="Inter"/>
                <a:cs typeface="Inter"/>
                <a:sym typeface="Inter"/>
              </a:rPr>
              <a:t>End-to-End Agent Workflow</a:t>
            </a:r>
          </a:p>
        </p:txBody>
      </p:sp>
      <p:grpSp>
        <p:nvGrpSpPr>
          <p:cNvPr name="Group 10" id="10"/>
          <p:cNvGrpSpPr/>
          <p:nvPr/>
        </p:nvGrpSpPr>
        <p:grpSpPr>
          <a:xfrm rot="0">
            <a:off x="1066648" y="2029711"/>
            <a:ext cx="14630400" cy="8229600"/>
            <a:chOff x="0" y="0"/>
            <a:chExt cx="19507200" cy="10972800"/>
          </a:xfrm>
        </p:grpSpPr>
        <p:sp>
          <p:nvSpPr>
            <p:cNvPr name="Freeform 11" id="11" descr="preencoded.png"/>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3"/>
              <a:stretch>
                <a:fillRect l="0" t="0" r="0" b="0"/>
              </a:stretch>
            </a:blipFill>
          </p:spPr>
        </p:sp>
      </p:grpSp>
      <p:grpSp>
        <p:nvGrpSpPr>
          <p:cNvPr name="Group 12" id="12"/>
          <p:cNvGrpSpPr/>
          <p:nvPr/>
        </p:nvGrpSpPr>
        <p:grpSpPr>
          <a:xfrm rot="0">
            <a:off x="1116206" y="10267055"/>
            <a:ext cx="154934" cy="123977"/>
            <a:chOff x="0" y="0"/>
            <a:chExt cx="206578" cy="165303"/>
          </a:xfrm>
        </p:grpSpPr>
        <p:sp>
          <p:nvSpPr>
            <p:cNvPr name="Freeform 13" id="13" descr="preencoded.png"/>
            <p:cNvSpPr/>
            <p:nvPr/>
          </p:nvSpPr>
          <p:spPr>
            <a:xfrm flipH="false" flipV="false" rot="0">
              <a:off x="0" y="0"/>
              <a:ext cx="206629" cy="165354"/>
            </a:xfrm>
            <a:custGeom>
              <a:avLst/>
              <a:gdLst/>
              <a:ahLst/>
              <a:cxnLst/>
              <a:rect r="r" b="b" t="t" l="l"/>
              <a:pathLst>
                <a:path h="165354" w="206629">
                  <a:moveTo>
                    <a:pt x="0" y="0"/>
                  </a:moveTo>
                  <a:lnTo>
                    <a:pt x="206629" y="0"/>
                  </a:lnTo>
                  <a:lnTo>
                    <a:pt x="206629" y="165354"/>
                  </a:lnTo>
                  <a:lnTo>
                    <a:pt x="0" y="165354"/>
                  </a:lnTo>
                  <a:lnTo>
                    <a:pt x="0" y="0"/>
                  </a:lnTo>
                  <a:close/>
                </a:path>
              </a:pathLst>
            </a:custGeom>
            <a:blipFill>
              <a:blip r:embed="rId4"/>
              <a:stretch>
                <a:fillRect l="0" t="-1459" r="24" b="-142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87476" y="746522"/>
            <a:ext cx="973931" cy="297952"/>
            <a:chOff x="0" y="0"/>
            <a:chExt cx="1298575" cy="397269"/>
          </a:xfrm>
        </p:grpSpPr>
        <p:sp>
          <p:nvSpPr>
            <p:cNvPr name="Freeform 7" id="7"/>
            <p:cNvSpPr/>
            <p:nvPr/>
          </p:nvSpPr>
          <p:spPr>
            <a:xfrm flipH="false" flipV="false" rot="0">
              <a:off x="0" y="0"/>
              <a:ext cx="1298575" cy="397256"/>
            </a:xfrm>
            <a:custGeom>
              <a:avLst/>
              <a:gdLst/>
              <a:ahLst/>
              <a:cxnLst/>
              <a:rect r="r" b="b" t="t" l="l"/>
              <a:pathLst>
                <a:path h="397256" w="1298575">
                  <a:moveTo>
                    <a:pt x="0" y="188341"/>
                  </a:moveTo>
                  <a:cubicBezTo>
                    <a:pt x="0" y="84328"/>
                    <a:pt x="84328" y="0"/>
                    <a:pt x="188341" y="0"/>
                  </a:cubicBezTo>
                  <a:lnTo>
                    <a:pt x="1110234" y="0"/>
                  </a:lnTo>
                  <a:cubicBezTo>
                    <a:pt x="1214247" y="0"/>
                    <a:pt x="1298575" y="84328"/>
                    <a:pt x="1298575" y="188341"/>
                  </a:cubicBezTo>
                  <a:lnTo>
                    <a:pt x="1298575" y="208915"/>
                  </a:lnTo>
                  <a:cubicBezTo>
                    <a:pt x="1298575" y="312928"/>
                    <a:pt x="1214247" y="397256"/>
                    <a:pt x="1110234" y="397256"/>
                  </a:cubicBezTo>
                  <a:lnTo>
                    <a:pt x="188341" y="397256"/>
                  </a:lnTo>
                  <a:cubicBezTo>
                    <a:pt x="84328" y="397256"/>
                    <a:pt x="0" y="312928"/>
                    <a:pt x="0" y="208915"/>
                  </a:cubicBezTo>
                  <a:close/>
                </a:path>
              </a:pathLst>
            </a:custGeom>
            <a:blipFill>
              <a:blip r:embed="rId3">
                <a:alphaModFix amt="0"/>
              </a:blip>
              <a:stretch>
                <a:fillRect l="0" t="-13692" r="0" b="-13695"/>
              </a:stretch>
            </a:blipFill>
            <a:ln w="9526" cap="sq">
              <a:solidFill>
                <a:srgbClr val="FF7047"/>
              </a:solidFill>
              <a:prstDash val="solid"/>
              <a:miter/>
            </a:ln>
          </p:spPr>
        </p:sp>
      </p:grpSp>
      <p:sp>
        <p:nvSpPr>
          <p:cNvPr name="TextBox 8" id="8"/>
          <p:cNvSpPr txBox="true"/>
          <p:nvPr/>
        </p:nvSpPr>
        <p:spPr>
          <a:xfrm rot="0">
            <a:off x="1106091" y="798614"/>
            <a:ext cx="1651102" cy="184252"/>
          </a:xfrm>
          <a:prstGeom prst="rect">
            <a:avLst/>
          </a:prstGeom>
        </p:spPr>
        <p:txBody>
          <a:bodyPr anchor="t" rtlCol="false" tIns="0" lIns="0" bIns="0" rIns="0">
            <a:spAutoFit/>
          </a:bodyPr>
          <a:lstStyle/>
          <a:p>
            <a:pPr algn="l">
              <a:lnSpc>
                <a:spcPts val="1267"/>
              </a:lnSpc>
            </a:pPr>
            <a:r>
              <a:rPr lang="en-US" sz="1100">
                <a:solidFill>
                  <a:srgbClr val="FF7047"/>
                </a:solidFill>
                <a:latin typeface="Arimo"/>
                <a:ea typeface="Arimo"/>
                <a:cs typeface="Arimo"/>
                <a:sym typeface="Arimo"/>
              </a:rPr>
              <a:t>AI AGENTS</a:t>
            </a:r>
          </a:p>
        </p:txBody>
      </p:sp>
      <p:sp>
        <p:nvSpPr>
          <p:cNvPr name="TextBox 9" id="9"/>
          <p:cNvSpPr txBox="true"/>
          <p:nvPr/>
        </p:nvSpPr>
        <p:spPr>
          <a:xfrm rot="0">
            <a:off x="992238" y="1069181"/>
            <a:ext cx="16303523" cy="622097"/>
          </a:xfrm>
          <a:prstGeom prst="rect">
            <a:avLst/>
          </a:prstGeom>
        </p:spPr>
        <p:txBody>
          <a:bodyPr anchor="t" rtlCol="false" tIns="0" lIns="0" bIns="0" rIns="0">
            <a:spAutoFit/>
          </a:bodyPr>
          <a:lstStyle/>
          <a:p>
            <a:pPr algn="l">
              <a:lnSpc>
                <a:spcPts val="4617"/>
              </a:lnSpc>
            </a:pPr>
            <a:r>
              <a:rPr lang="en-US" sz="3700">
                <a:solidFill>
                  <a:srgbClr val="0C0D0F"/>
                </a:solidFill>
                <a:latin typeface="Inter"/>
                <a:ea typeface="Inter"/>
                <a:cs typeface="Inter"/>
                <a:sym typeface="Inter"/>
              </a:rPr>
              <a:t>The Five Specialized AI Agents</a:t>
            </a:r>
          </a:p>
        </p:txBody>
      </p:sp>
      <p:sp>
        <p:nvSpPr>
          <p:cNvPr name="TextBox 10" id="10"/>
          <p:cNvSpPr txBox="true"/>
          <p:nvPr/>
        </p:nvSpPr>
        <p:spPr>
          <a:xfrm rot="0">
            <a:off x="992238" y="1861690"/>
            <a:ext cx="17217923" cy="315811"/>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Each agent has a focused role, a defined set of tools, and produces structured output consumed by downstream agents.</a:t>
            </a:r>
          </a:p>
        </p:txBody>
      </p:sp>
      <p:grpSp>
        <p:nvGrpSpPr>
          <p:cNvPr name="Group 11" id="11"/>
          <p:cNvGrpSpPr/>
          <p:nvPr/>
        </p:nvGrpSpPr>
        <p:grpSpPr>
          <a:xfrm rot="0">
            <a:off x="992238" y="2341064"/>
            <a:ext cx="2284809" cy="1412081"/>
            <a:chOff x="0" y="0"/>
            <a:chExt cx="3046412" cy="1882775"/>
          </a:xfrm>
        </p:grpSpPr>
        <p:sp>
          <p:nvSpPr>
            <p:cNvPr name="Freeform 12" id="12" descr="preencoded.png"/>
            <p:cNvSpPr/>
            <p:nvPr/>
          </p:nvSpPr>
          <p:spPr>
            <a:xfrm flipH="false" flipV="false" rot="0">
              <a:off x="0" y="0"/>
              <a:ext cx="3046476" cy="1882775"/>
            </a:xfrm>
            <a:custGeom>
              <a:avLst/>
              <a:gdLst/>
              <a:ahLst/>
              <a:cxnLst/>
              <a:rect r="r" b="b" t="t" l="l"/>
              <a:pathLst>
                <a:path h="1882775" w="3046476">
                  <a:moveTo>
                    <a:pt x="0" y="0"/>
                  </a:moveTo>
                  <a:lnTo>
                    <a:pt x="3046476" y="0"/>
                  </a:lnTo>
                  <a:lnTo>
                    <a:pt x="3046476" y="1882775"/>
                  </a:lnTo>
                  <a:lnTo>
                    <a:pt x="0" y="1882775"/>
                  </a:lnTo>
                  <a:lnTo>
                    <a:pt x="0" y="0"/>
                  </a:lnTo>
                  <a:close/>
                </a:path>
              </a:pathLst>
            </a:custGeom>
            <a:blipFill>
              <a:blip r:embed="rId4"/>
              <a:stretch>
                <a:fillRect l="0" t="-226" r="2" b="-226"/>
              </a:stretch>
            </a:blipFill>
          </p:spPr>
        </p:sp>
      </p:grpSp>
      <p:sp>
        <p:nvSpPr>
          <p:cNvPr name="TextBox 13" id="13"/>
          <p:cNvSpPr txBox="true"/>
          <p:nvPr/>
        </p:nvSpPr>
        <p:spPr>
          <a:xfrm rot="0">
            <a:off x="992238" y="3925338"/>
            <a:ext cx="3939483" cy="306143"/>
          </a:xfrm>
          <a:prstGeom prst="rect">
            <a:avLst/>
          </a:prstGeom>
        </p:spPr>
        <p:txBody>
          <a:bodyPr anchor="t" rtlCol="false" tIns="0" lIns="0" bIns="0" rIns="0">
            <a:spAutoFit/>
          </a:bodyPr>
          <a:lstStyle/>
          <a:p>
            <a:pPr algn="l">
              <a:lnSpc>
                <a:spcPts val="2246"/>
              </a:lnSpc>
            </a:pPr>
            <a:r>
              <a:rPr lang="en-US" sz="1800">
                <a:solidFill>
                  <a:srgbClr val="55575A"/>
                </a:solidFill>
                <a:latin typeface="Inter"/>
                <a:ea typeface="Inter"/>
                <a:cs typeface="Inter"/>
                <a:sym typeface="Inter"/>
              </a:rPr>
              <a:t>Feedback Analysis Agent</a:t>
            </a:r>
          </a:p>
        </p:txBody>
      </p:sp>
      <p:sp>
        <p:nvSpPr>
          <p:cNvPr name="TextBox 14" id="14"/>
          <p:cNvSpPr txBox="true"/>
          <p:nvPr/>
        </p:nvSpPr>
        <p:spPr>
          <a:xfrm rot="0">
            <a:off x="992238" y="4271067"/>
            <a:ext cx="3939483" cy="852192"/>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Processes raw customer feedback, identifies recurring themes, and extracts actionable insights using sentiment analysis.</a:t>
            </a:r>
          </a:p>
        </p:txBody>
      </p:sp>
      <p:grpSp>
        <p:nvGrpSpPr>
          <p:cNvPr name="Group 15" id="15"/>
          <p:cNvGrpSpPr/>
          <p:nvPr/>
        </p:nvGrpSpPr>
        <p:grpSpPr>
          <a:xfrm rot="0">
            <a:off x="5113439" y="2341064"/>
            <a:ext cx="2284962" cy="1412081"/>
            <a:chOff x="0" y="0"/>
            <a:chExt cx="3046616" cy="1882775"/>
          </a:xfrm>
        </p:grpSpPr>
        <p:sp>
          <p:nvSpPr>
            <p:cNvPr name="Freeform 16" id="16" descr="preencoded.png"/>
            <p:cNvSpPr/>
            <p:nvPr/>
          </p:nvSpPr>
          <p:spPr>
            <a:xfrm flipH="false" flipV="false" rot="0">
              <a:off x="0" y="0"/>
              <a:ext cx="3046603" cy="1882775"/>
            </a:xfrm>
            <a:custGeom>
              <a:avLst/>
              <a:gdLst/>
              <a:ahLst/>
              <a:cxnLst/>
              <a:rect r="r" b="b" t="t" l="l"/>
              <a:pathLst>
                <a:path h="1882775" w="3046603">
                  <a:moveTo>
                    <a:pt x="0" y="0"/>
                  </a:moveTo>
                  <a:lnTo>
                    <a:pt x="3046603" y="0"/>
                  </a:lnTo>
                  <a:lnTo>
                    <a:pt x="3046603" y="1882775"/>
                  </a:lnTo>
                  <a:lnTo>
                    <a:pt x="0" y="1882775"/>
                  </a:lnTo>
                  <a:lnTo>
                    <a:pt x="0" y="0"/>
                  </a:lnTo>
                  <a:close/>
                </a:path>
              </a:pathLst>
            </a:custGeom>
            <a:blipFill>
              <a:blip r:embed="rId5"/>
              <a:stretch>
                <a:fillRect l="0" t="-230" r="0" b="-230"/>
              </a:stretch>
            </a:blipFill>
          </p:spPr>
        </p:sp>
      </p:grpSp>
      <p:sp>
        <p:nvSpPr>
          <p:cNvPr name="TextBox 17" id="17"/>
          <p:cNvSpPr txBox="true"/>
          <p:nvPr/>
        </p:nvSpPr>
        <p:spPr>
          <a:xfrm rot="0">
            <a:off x="5113439" y="3925338"/>
            <a:ext cx="3939626" cy="306143"/>
          </a:xfrm>
          <a:prstGeom prst="rect">
            <a:avLst/>
          </a:prstGeom>
        </p:spPr>
        <p:txBody>
          <a:bodyPr anchor="t" rtlCol="false" tIns="0" lIns="0" bIns="0" rIns="0">
            <a:spAutoFit/>
          </a:bodyPr>
          <a:lstStyle/>
          <a:p>
            <a:pPr algn="l">
              <a:lnSpc>
                <a:spcPts val="2246"/>
              </a:lnSpc>
            </a:pPr>
            <a:r>
              <a:rPr lang="en-US" sz="1800">
                <a:solidFill>
                  <a:srgbClr val="55575A"/>
                </a:solidFill>
                <a:latin typeface="Inter"/>
                <a:ea typeface="Inter"/>
                <a:cs typeface="Inter"/>
                <a:sym typeface="Inter"/>
              </a:rPr>
              <a:t>Competitor Research Agent</a:t>
            </a:r>
          </a:p>
        </p:txBody>
      </p:sp>
      <p:sp>
        <p:nvSpPr>
          <p:cNvPr name="TextBox 18" id="18"/>
          <p:cNvSpPr txBox="true"/>
          <p:nvPr/>
        </p:nvSpPr>
        <p:spPr>
          <a:xfrm rot="0">
            <a:off x="5113439" y="4271067"/>
            <a:ext cx="3939626" cy="852192"/>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Researches competing products, analyzes feature gaps, and identifies market opportunities and threats.</a:t>
            </a:r>
          </a:p>
        </p:txBody>
      </p:sp>
      <p:grpSp>
        <p:nvGrpSpPr>
          <p:cNvPr name="Group 19" id="19"/>
          <p:cNvGrpSpPr/>
          <p:nvPr/>
        </p:nvGrpSpPr>
        <p:grpSpPr>
          <a:xfrm rot="0">
            <a:off x="9234783" y="2341064"/>
            <a:ext cx="2284962" cy="1412081"/>
            <a:chOff x="0" y="0"/>
            <a:chExt cx="3046616" cy="1882775"/>
          </a:xfrm>
        </p:grpSpPr>
        <p:sp>
          <p:nvSpPr>
            <p:cNvPr name="Freeform 20" id="20" descr="preencoded.png"/>
            <p:cNvSpPr/>
            <p:nvPr/>
          </p:nvSpPr>
          <p:spPr>
            <a:xfrm flipH="false" flipV="false" rot="0">
              <a:off x="0" y="0"/>
              <a:ext cx="3046603" cy="1882775"/>
            </a:xfrm>
            <a:custGeom>
              <a:avLst/>
              <a:gdLst/>
              <a:ahLst/>
              <a:cxnLst/>
              <a:rect r="r" b="b" t="t" l="l"/>
              <a:pathLst>
                <a:path h="1882775" w="3046603">
                  <a:moveTo>
                    <a:pt x="0" y="0"/>
                  </a:moveTo>
                  <a:lnTo>
                    <a:pt x="3046603" y="0"/>
                  </a:lnTo>
                  <a:lnTo>
                    <a:pt x="3046603" y="1882775"/>
                  </a:lnTo>
                  <a:lnTo>
                    <a:pt x="0" y="1882775"/>
                  </a:lnTo>
                  <a:lnTo>
                    <a:pt x="0" y="0"/>
                  </a:lnTo>
                  <a:close/>
                </a:path>
              </a:pathLst>
            </a:custGeom>
            <a:blipFill>
              <a:blip r:embed="rId6"/>
              <a:stretch>
                <a:fillRect l="0" t="-230" r="0" b="-230"/>
              </a:stretch>
            </a:blipFill>
          </p:spPr>
        </p:sp>
      </p:grpSp>
      <p:sp>
        <p:nvSpPr>
          <p:cNvPr name="TextBox 21" id="21"/>
          <p:cNvSpPr txBox="true"/>
          <p:nvPr/>
        </p:nvSpPr>
        <p:spPr>
          <a:xfrm rot="0">
            <a:off x="9234783" y="3925338"/>
            <a:ext cx="3939626" cy="306143"/>
          </a:xfrm>
          <a:prstGeom prst="rect">
            <a:avLst/>
          </a:prstGeom>
        </p:spPr>
        <p:txBody>
          <a:bodyPr anchor="t" rtlCol="false" tIns="0" lIns="0" bIns="0" rIns="0">
            <a:spAutoFit/>
          </a:bodyPr>
          <a:lstStyle/>
          <a:p>
            <a:pPr algn="l">
              <a:lnSpc>
                <a:spcPts val="2246"/>
              </a:lnSpc>
            </a:pPr>
            <a:r>
              <a:rPr lang="en-US" sz="1800">
                <a:solidFill>
                  <a:srgbClr val="55575A"/>
                </a:solidFill>
                <a:latin typeface="Inter"/>
                <a:ea typeface="Inter"/>
                <a:cs typeface="Inter"/>
                <a:sym typeface="Inter"/>
              </a:rPr>
              <a:t>Feature Prioritization Agent</a:t>
            </a:r>
          </a:p>
        </p:txBody>
      </p:sp>
      <p:sp>
        <p:nvSpPr>
          <p:cNvPr name="TextBox 22" id="22"/>
          <p:cNvSpPr txBox="true"/>
          <p:nvPr/>
        </p:nvSpPr>
        <p:spPr>
          <a:xfrm rot="0">
            <a:off x="9234783" y="4271067"/>
            <a:ext cx="3939626" cy="852192"/>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Combines feedback insights and competitor data to rank features using RICE or MoSCoW scoring frameworks.</a:t>
            </a:r>
          </a:p>
        </p:txBody>
      </p:sp>
      <p:grpSp>
        <p:nvGrpSpPr>
          <p:cNvPr name="Group 23" id="23"/>
          <p:cNvGrpSpPr/>
          <p:nvPr/>
        </p:nvGrpSpPr>
        <p:grpSpPr>
          <a:xfrm rot="0">
            <a:off x="13356136" y="2341064"/>
            <a:ext cx="2284962" cy="1412081"/>
            <a:chOff x="0" y="0"/>
            <a:chExt cx="3046616" cy="1882775"/>
          </a:xfrm>
        </p:grpSpPr>
        <p:sp>
          <p:nvSpPr>
            <p:cNvPr name="Freeform 24" id="24" descr="preencoded.png"/>
            <p:cNvSpPr/>
            <p:nvPr/>
          </p:nvSpPr>
          <p:spPr>
            <a:xfrm flipH="false" flipV="false" rot="0">
              <a:off x="0" y="0"/>
              <a:ext cx="3046603" cy="1882775"/>
            </a:xfrm>
            <a:custGeom>
              <a:avLst/>
              <a:gdLst/>
              <a:ahLst/>
              <a:cxnLst/>
              <a:rect r="r" b="b" t="t" l="l"/>
              <a:pathLst>
                <a:path h="1882775" w="3046603">
                  <a:moveTo>
                    <a:pt x="0" y="0"/>
                  </a:moveTo>
                  <a:lnTo>
                    <a:pt x="3046603" y="0"/>
                  </a:lnTo>
                  <a:lnTo>
                    <a:pt x="3046603" y="1882775"/>
                  </a:lnTo>
                  <a:lnTo>
                    <a:pt x="0" y="1882775"/>
                  </a:lnTo>
                  <a:lnTo>
                    <a:pt x="0" y="0"/>
                  </a:lnTo>
                  <a:close/>
                </a:path>
              </a:pathLst>
            </a:custGeom>
            <a:blipFill>
              <a:blip r:embed="rId7"/>
              <a:stretch>
                <a:fillRect l="0" t="-230" r="0" b="-230"/>
              </a:stretch>
            </a:blipFill>
          </p:spPr>
        </p:sp>
      </p:grpSp>
      <p:sp>
        <p:nvSpPr>
          <p:cNvPr name="TextBox 25" id="25"/>
          <p:cNvSpPr txBox="true"/>
          <p:nvPr/>
        </p:nvSpPr>
        <p:spPr>
          <a:xfrm rot="0">
            <a:off x="13356136" y="3925338"/>
            <a:ext cx="3939626" cy="306143"/>
          </a:xfrm>
          <a:prstGeom prst="rect">
            <a:avLst/>
          </a:prstGeom>
        </p:spPr>
        <p:txBody>
          <a:bodyPr anchor="t" rtlCol="false" tIns="0" lIns="0" bIns="0" rIns="0">
            <a:spAutoFit/>
          </a:bodyPr>
          <a:lstStyle/>
          <a:p>
            <a:pPr algn="l">
              <a:lnSpc>
                <a:spcPts val="2246"/>
              </a:lnSpc>
            </a:pPr>
            <a:r>
              <a:rPr lang="en-US" sz="1800">
                <a:solidFill>
                  <a:srgbClr val="55575A"/>
                </a:solidFill>
                <a:latin typeface="Inter"/>
                <a:ea typeface="Inter"/>
                <a:cs typeface="Inter"/>
                <a:sym typeface="Inter"/>
              </a:rPr>
              <a:t>PRD Writer Agent</a:t>
            </a:r>
          </a:p>
        </p:txBody>
      </p:sp>
      <p:sp>
        <p:nvSpPr>
          <p:cNvPr name="TextBox 26" id="26"/>
          <p:cNvSpPr txBox="true"/>
          <p:nvPr/>
        </p:nvSpPr>
        <p:spPr>
          <a:xfrm rot="0">
            <a:off x="13356136" y="4271067"/>
            <a:ext cx="3939626" cy="1120378"/>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Generates a structured Product Requirements Document including problem statement, user stories, and acceptance criteria.</a:t>
            </a:r>
          </a:p>
        </p:txBody>
      </p:sp>
      <p:grpSp>
        <p:nvGrpSpPr>
          <p:cNvPr name="Group 27" id="27"/>
          <p:cNvGrpSpPr/>
          <p:nvPr/>
        </p:nvGrpSpPr>
        <p:grpSpPr>
          <a:xfrm rot="0">
            <a:off x="992238" y="5682263"/>
            <a:ext cx="2284809" cy="1412081"/>
            <a:chOff x="0" y="0"/>
            <a:chExt cx="3046412" cy="1882775"/>
          </a:xfrm>
        </p:grpSpPr>
        <p:sp>
          <p:nvSpPr>
            <p:cNvPr name="Freeform 28" id="28" descr="preencoded.png"/>
            <p:cNvSpPr/>
            <p:nvPr/>
          </p:nvSpPr>
          <p:spPr>
            <a:xfrm flipH="false" flipV="false" rot="0">
              <a:off x="0" y="0"/>
              <a:ext cx="3046476" cy="1882775"/>
            </a:xfrm>
            <a:custGeom>
              <a:avLst/>
              <a:gdLst/>
              <a:ahLst/>
              <a:cxnLst/>
              <a:rect r="r" b="b" t="t" l="l"/>
              <a:pathLst>
                <a:path h="1882775" w="3046476">
                  <a:moveTo>
                    <a:pt x="0" y="0"/>
                  </a:moveTo>
                  <a:lnTo>
                    <a:pt x="3046476" y="0"/>
                  </a:lnTo>
                  <a:lnTo>
                    <a:pt x="3046476" y="1882775"/>
                  </a:lnTo>
                  <a:lnTo>
                    <a:pt x="0" y="1882775"/>
                  </a:lnTo>
                  <a:lnTo>
                    <a:pt x="0" y="0"/>
                  </a:lnTo>
                  <a:close/>
                </a:path>
              </a:pathLst>
            </a:custGeom>
            <a:blipFill>
              <a:blip r:embed="rId8"/>
              <a:stretch>
                <a:fillRect l="0" t="-226" r="2" b="-226"/>
              </a:stretch>
            </a:blipFill>
          </p:spPr>
        </p:sp>
      </p:grpSp>
      <p:sp>
        <p:nvSpPr>
          <p:cNvPr name="TextBox 29" id="29"/>
          <p:cNvSpPr txBox="true"/>
          <p:nvPr/>
        </p:nvSpPr>
        <p:spPr>
          <a:xfrm rot="0">
            <a:off x="992238" y="7266537"/>
            <a:ext cx="3939483" cy="306143"/>
          </a:xfrm>
          <a:prstGeom prst="rect">
            <a:avLst/>
          </a:prstGeom>
        </p:spPr>
        <p:txBody>
          <a:bodyPr anchor="t" rtlCol="false" tIns="0" lIns="0" bIns="0" rIns="0">
            <a:spAutoFit/>
          </a:bodyPr>
          <a:lstStyle/>
          <a:p>
            <a:pPr algn="l">
              <a:lnSpc>
                <a:spcPts val="2246"/>
              </a:lnSpc>
            </a:pPr>
            <a:r>
              <a:rPr lang="en-US" sz="1800">
                <a:solidFill>
                  <a:srgbClr val="55575A"/>
                </a:solidFill>
                <a:latin typeface="Inter"/>
                <a:ea typeface="Inter"/>
                <a:cs typeface="Inter"/>
                <a:sym typeface="Inter"/>
              </a:rPr>
              <a:t>Sprint Planning Agent</a:t>
            </a:r>
          </a:p>
        </p:txBody>
      </p:sp>
      <p:sp>
        <p:nvSpPr>
          <p:cNvPr name="TextBox 30" id="30"/>
          <p:cNvSpPr txBox="true"/>
          <p:nvPr/>
        </p:nvSpPr>
        <p:spPr>
          <a:xfrm rot="0">
            <a:off x="992238" y="7612266"/>
            <a:ext cx="3939483" cy="852192"/>
          </a:xfrm>
          <a:prstGeom prst="rect">
            <a:avLst/>
          </a:prstGeom>
        </p:spPr>
        <p:txBody>
          <a:bodyPr anchor="t" rtlCol="false" tIns="0" lIns="0" bIns="0" rIns="0">
            <a:spAutoFit/>
          </a:bodyPr>
          <a:lstStyle/>
          <a:p>
            <a:pPr algn="l">
              <a:lnSpc>
                <a:spcPts val="1982"/>
              </a:lnSpc>
            </a:pPr>
            <a:r>
              <a:rPr lang="en-US" sz="1399">
                <a:solidFill>
                  <a:srgbClr val="55575A"/>
                </a:solidFill>
                <a:latin typeface="Arimo"/>
                <a:ea typeface="Arimo"/>
                <a:cs typeface="Arimo"/>
                <a:sym typeface="Arimo"/>
              </a:rPr>
              <a:t>Breaks the PRD into sprint-sized tasks, estimates effort, and generates a prioritized sprint backlog ready for execution.</a:t>
            </a:r>
          </a:p>
        </p:txBody>
      </p:sp>
      <p:grpSp>
        <p:nvGrpSpPr>
          <p:cNvPr name="Group 31" id="31"/>
          <p:cNvGrpSpPr/>
          <p:nvPr/>
        </p:nvGrpSpPr>
        <p:grpSpPr>
          <a:xfrm rot="0">
            <a:off x="992238" y="8628012"/>
            <a:ext cx="16303523" cy="907552"/>
            <a:chOff x="0" y="0"/>
            <a:chExt cx="21738031" cy="1210069"/>
          </a:xfrm>
        </p:grpSpPr>
        <p:sp>
          <p:nvSpPr>
            <p:cNvPr name="Freeform 32" id="32"/>
            <p:cNvSpPr/>
            <p:nvPr/>
          </p:nvSpPr>
          <p:spPr>
            <a:xfrm flipH="false" flipV="false" rot="0">
              <a:off x="0" y="0"/>
              <a:ext cx="21738081" cy="1210056"/>
            </a:xfrm>
            <a:custGeom>
              <a:avLst/>
              <a:gdLst/>
              <a:ahLst/>
              <a:cxnLst/>
              <a:rect r="r" b="b" t="t" l="l"/>
              <a:pathLst>
                <a:path h="1210056" w="21738081">
                  <a:moveTo>
                    <a:pt x="0" y="227965"/>
                  </a:moveTo>
                  <a:cubicBezTo>
                    <a:pt x="0" y="102108"/>
                    <a:pt x="102108" y="0"/>
                    <a:pt x="227965" y="0"/>
                  </a:cubicBezTo>
                  <a:lnTo>
                    <a:pt x="21510117" y="0"/>
                  </a:lnTo>
                  <a:cubicBezTo>
                    <a:pt x="21635974" y="0"/>
                    <a:pt x="21738081" y="102108"/>
                    <a:pt x="21738081" y="227965"/>
                  </a:cubicBezTo>
                  <a:lnTo>
                    <a:pt x="21738081" y="982091"/>
                  </a:lnTo>
                  <a:cubicBezTo>
                    <a:pt x="21738081" y="1107948"/>
                    <a:pt x="21635974" y="1210056"/>
                    <a:pt x="21510117" y="1210056"/>
                  </a:cubicBezTo>
                  <a:lnTo>
                    <a:pt x="227965" y="1210056"/>
                  </a:lnTo>
                  <a:cubicBezTo>
                    <a:pt x="102108" y="1210056"/>
                    <a:pt x="0" y="1108075"/>
                    <a:pt x="0" y="982091"/>
                  </a:cubicBezTo>
                  <a:close/>
                </a:path>
              </a:pathLst>
            </a:custGeom>
            <a:solidFill>
              <a:srgbClr val="FFD7CC"/>
            </a:solidFill>
          </p:spPr>
        </p:sp>
      </p:grpSp>
      <p:grpSp>
        <p:nvGrpSpPr>
          <p:cNvPr name="Group 33" id="33"/>
          <p:cNvGrpSpPr/>
          <p:nvPr/>
        </p:nvGrpSpPr>
        <p:grpSpPr>
          <a:xfrm rot="0">
            <a:off x="1182138" y="8880129"/>
            <a:ext cx="237382" cy="189900"/>
            <a:chOff x="0" y="0"/>
            <a:chExt cx="316509" cy="253200"/>
          </a:xfrm>
        </p:grpSpPr>
        <p:sp>
          <p:nvSpPr>
            <p:cNvPr name="Freeform 34" id="34" descr="preencoded.png"/>
            <p:cNvSpPr/>
            <p:nvPr/>
          </p:nvSpPr>
          <p:spPr>
            <a:xfrm flipH="false" flipV="false" rot="0">
              <a:off x="0" y="0"/>
              <a:ext cx="316484" cy="253238"/>
            </a:xfrm>
            <a:custGeom>
              <a:avLst/>
              <a:gdLst/>
              <a:ahLst/>
              <a:cxnLst/>
              <a:rect r="r" b="b" t="t" l="l"/>
              <a:pathLst>
                <a:path h="253238" w="316484">
                  <a:moveTo>
                    <a:pt x="0" y="0"/>
                  </a:moveTo>
                  <a:lnTo>
                    <a:pt x="316484" y="0"/>
                  </a:lnTo>
                  <a:lnTo>
                    <a:pt x="316484" y="253238"/>
                  </a:lnTo>
                  <a:lnTo>
                    <a:pt x="0" y="253238"/>
                  </a:lnTo>
                  <a:lnTo>
                    <a:pt x="0" y="0"/>
                  </a:lnTo>
                  <a:close/>
                </a:path>
              </a:pathLst>
            </a:custGeom>
            <a:blipFill>
              <a:blip r:embed="rId9"/>
              <a:stretch>
                <a:fillRect l="0" t="0" r="-8" b="15"/>
              </a:stretch>
            </a:blipFill>
          </p:spPr>
        </p:sp>
      </p:grpSp>
      <p:sp>
        <p:nvSpPr>
          <p:cNvPr name="TextBox 35" id="35"/>
          <p:cNvSpPr txBox="true"/>
          <p:nvPr/>
        </p:nvSpPr>
        <p:spPr>
          <a:xfrm rot="0">
            <a:off x="1609430" y="8773268"/>
            <a:ext cx="15496432" cy="583997"/>
          </a:xfrm>
          <a:prstGeom prst="rect">
            <a:avLst/>
          </a:prstGeom>
        </p:spPr>
        <p:txBody>
          <a:bodyPr anchor="t" rtlCol="false" tIns="0" lIns="0" bIns="0" rIns="0">
            <a:spAutoFit/>
          </a:bodyPr>
          <a:lstStyle/>
          <a:p>
            <a:pPr algn="l">
              <a:lnSpc>
                <a:spcPts val="1982"/>
              </a:lnSpc>
            </a:pPr>
            <a:r>
              <a:rPr lang="en-US" sz="1399" b="true">
                <a:solidFill>
                  <a:srgbClr val="000000"/>
                </a:solidFill>
                <a:latin typeface="Arimo Bold"/>
                <a:ea typeface="Arimo Bold"/>
                <a:cs typeface="Arimo Bold"/>
                <a:sym typeface="Arimo Bold"/>
              </a:rPr>
              <a:t>Speaker Notes:</a:t>
            </a:r>
            <a:r>
              <a:rPr lang="en-US" sz="1399">
                <a:solidFill>
                  <a:srgbClr val="000000"/>
                </a:solidFill>
                <a:latin typeface="Arimo"/>
                <a:ea typeface="Arimo"/>
                <a:cs typeface="Arimo"/>
                <a:sym typeface="Arimo"/>
              </a:rPr>
              <a:t> Each agent is a specialist. The Feedback Agent handles qualitative data, the Competitor Agent handles market intelligence, and the Prioritization Agent synthesizes both. The PRD Writer and Sprint Planner translate strategy into execution-ready artifacts.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762743"/>
            <a:ext cx="1560462" cy="300333"/>
            <a:chOff x="0" y="0"/>
            <a:chExt cx="2080616" cy="400444"/>
          </a:xfrm>
        </p:grpSpPr>
        <p:sp>
          <p:nvSpPr>
            <p:cNvPr name="Freeform 7" id="7"/>
            <p:cNvSpPr/>
            <p:nvPr/>
          </p:nvSpPr>
          <p:spPr>
            <a:xfrm flipH="false" flipV="false" rot="0">
              <a:off x="0" y="0"/>
              <a:ext cx="2080514" cy="400304"/>
            </a:xfrm>
            <a:custGeom>
              <a:avLst/>
              <a:gdLst/>
              <a:ahLst/>
              <a:cxnLst/>
              <a:rect r="r" b="b" t="t" l="l"/>
              <a:pathLst>
                <a:path h="400304" w="2080514">
                  <a:moveTo>
                    <a:pt x="0" y="189738"/>
                  </a:moveTo>
                  <a:cubicBezTo>
                    <a:pt x="0" y="84963"/>
                    <a:pt x="84963" y="0"/>
                    <a:pt x="189738" y="0"/>
                  </a:cubicBezTo>
                  <a:lnTo>
                    <a:pt x="1890776" y="0"/>
                  </a:lnTo>
                  <a:cubicBezTo>
                    <a:pt x="1995551" y="0"/>
                    <a:pt x="2080514" y="84963"/>
                    <a:pt x="2080514" y="189738"/>
                  </a:cubicBezTo>
                  <a:lnTo>
                    <a:pt x="2080514" y="210566"/>
                  </a:lnTo>
                  <a:cubicBezTo>
                    <a:pt x="2080514" y="315341"/>
                    <a:pt x="1995551" y="400304"/>
                    <a:pt x="1890776" y="400304"/>
                  </a:cubicBezTo>
                  <a:lnTo>
                    <a:pt x="189738" y="400304"/>
                  </a:lnTo>
                  <a:cubicBezTo>
                    <a:pt x="84963" y="400431"/>
                    <a:pt x="0" y="315468"/>
                    <a:pt x="0" y="210693"/>
                  </a:cubicBezTo>
                  <a:close/>
                </a:path>
              </a:pathLst>
            </a:custGeom>
            <a:solidFill>
              <a:srgbClr val="FFD7CC"/>
            </a:solidFill>
          </p:spPr>
        </p:sp>
      </p:grpSp>
      <p:sp>
        <p:nvSpPr>
          <p:cNvPr name="TextBox 8" id="8"/>
          <p:cNvSpPr txBox="true"/>
          <p:nvPr/>
        </p:nvSpPr>
        <p:spPr>
          <a:xfrm rot="0">
            <a:off x="1110853" y="812454"/>
            <a:ext cx="2237632" cy="191395"/>
          </a:xfrm>
          <a:prstGeom prst="rect">
            <a:avLst/>
          </a:prstGeom>
        </p:spPr>
        <p:txBody>
          <a:bodyPr anchor="t" rtlCol="false" tIns="0" lIns="0" bIns="0" rIns="0">
            <a:spAutoFit/>
          </a:bodyPr>
          <a:lstStyle/>
          <a:p>
            <a:pPr algn="l">
              <a:lnSpc>
                <a:spcPts val="1382"/>
              </a:lnSpc>
            </a:pPr>
            <a:r>
              <a:rPr lang="en-US" sz="1200">
                <a:solidFill>
                  <a:srgbClr val="55575A"/>
                </a:solidFill>
                <a:latin typeface="Arimo"/>
                <a:ea typeface="Arimo"/>
                <a:cs typeface="Arimo"/>
                <a:sym typeface="Arimo"/>
              </a:rPr>
              <a:t>TOOLS &amp; MEMORY</a:t>
            </a:r>
          </a:p>
        </p:txBody>
      </p:sp>
      <p:sp>
        <p:nvSpPr>
          <p:cNvPr name="TextBox 9" id="9"/>
          <p:cNvSpPr txBox="true"/>
          <p:nvPr/>
        </p:nvSpPr>
        <p:spPr>
          <a:xfrm rot="0">
            <a:off x="992238" y="1106986"/>
            <a:ext cx="16303523" cy="636832"/>
          </a:xfrm>
          <a:prstGeom prst="rect">
            <a:avLst/>
          </a:prstGeom>
        </p:spPr>
        <p:txBody>
          <a:bodyPr anchor="t" rtlCol="false" tIns="0" lIns="0" bIns="0" rIns="0">
            <a:spAutoFit/>
          </a:bodyPr>
          <a:lstStyle/>
          <a:p>
            <a:pPr algn="l">
              <a:lnSpc>
                <a:spcPts val="4742"/>
              </a:lnSpc>
            </a:pPr>
            <a:r>
              <a:rPr lang="en-US" sz="3800">
                <a:solidFill>
                  <a:srgbClr val="0C0D0F"/>
                </a:solidFill>
                <a:latin typeface="Inter"/>
                <a:ea typeface="Inter"/>
                <a:cs typeface="Inter"/>
                <a:sym typeface="Inter"/>
              </a:rPr>
              <a:t>Tools &amp; Shared Memory Layer</a:t>
            </a:r>
          </a:p>
        </p:txBody>
      </p:sp>
      <p:sp>
        <p:nvSpPr>
          <p:cNvPr name="TextBox 10" id="10"/>
          <p:cNvSpPr txBox="true"/>
          <p:nvPr/>
        </p:nvSpPr>
        <p:spPr>
          <a:xfrm rot="0">
            <a:off x="992238" y="2127942"/>
            <a:ext cx="7910665" cy="318345"/>
          </a:xfrm>
          <a:prstGeom prst="rect">
            <a:avLst/>
          </a:prstGeom>
        </p:spPr>
        <p:txBody>
          <a:bodyPr anchor="t" rtlCol="false" tIns="0" lIns="0" bIns="0" rIns="0">
            <a:spAutoFit/>
          </a:bodyPr>
          <a:lstStyle/>
          <a:p>
            <a:pPr algn="l">
              <a:lnSpc>
                <a:spcPts val="2371"/>
              </a:lnSpc>
            </a:pPr>
            <a:r>
              <a:rPr lang="en-US" sz="1900">
                <a:solidFill>
                  <a:srgbClr val="0C0D0F"/>
                </a:solidFill>
                <a:latin typeface="Inter"/>
                <a:ea typeface="Inter"/>
                <a:cs typeface="Inter"/>
                <a:sym typeface="Inter"/>
              </a:rPr>
              <a:t>Five Core Tools</a:t>
            </a:r>
          </a:p>
        </p:txBody>
      </p:sp>
      <p:sp>
        <p:nvSpPr>
          <p:cNvPr name="Freeform 11" id="11" descr="preencoded.png"/>
          <p:cNvSpPr/>
          <p:nvPr/>
        </p:nvSpPr>
        <p:spPr>
          <a:xfrm flipH="false" flipV="false" rot="0">
            <a:off x="1066352" y="2629500"/>
            <a:ext cx="296466" cy="296466"/>
          </a:xfrm>
          <a:custGeom>
            <a:avLst/>
            <a:gdLst/>
            <a:ahLst/>
            <a:cxnLst/>
            <a:rect r="r" b="b" t="t" l="l"/>
            <a:pathLst>
              <a:path h="296466" w="296466">
                <a:moveTo>
                  <a:pt x="0" y="0"/>
                </a:moveTo>
                <a:lnTo>
                  <a:pt x="296466" y="0"/>
                </a:lnTo>
                <a:lnTo>
                  <a:pt x="296466" y="296466"/>
                </a:lnTo>
                <a:lnTo>
                  <a:pt x="0" y="296466"/>
                </a:lnTo>
                <a:lnTo>
                  <a:pt x="0" y="0"/>
                </a:lnTo>
                <a:close/>
              </a:path>
            </a:pathLst>
          </a:custGeom>
          <a:blipFill>
            <a:blip r:embed="rId3">
              <a:extLst>
                <a:ext uri="{96DAC541-7B7A-43D3-8B79-37D633B846F1}">
                  <asvg:svgBlip xmlns:asvg="http://schemas.microsoft.com/office/drawing/2016/SVG/main" r:embed="rId4"/>
                </a:ext>
              </a:extLst>
            </a:blip>
            <a:stretch>
              <a:fillRect l="-7813" t="0" r="-7810" b="0"/>
            </a:stretch>
          </a:blipFill>
        </p:spPr>
      </p:sp>
      <p:sp>
        <p:nvSpPr>
          <p:cNvPr name="TextBox 12" id="12"/>
          <p:cNvSpPr txBox="true"/>
          <p:nvPr/>
        </p:nvSpPr>
        <p:spPr>
          <a:xfrm rot="0">
            <a:off x="1634576" y="2613870"/>
            <a:ext cx="7268318" cy="318345"/>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Customer Feedback Tool</a:t>
            </a:r>
          </a:p>
        </p:txBody>
      </p:sp>
      <p:sp>
        <p:nvSpPr>
          <p:cNvPr name="TextBox 13" id="13"/>
          <p:cNvSpPr txBox="true"/>
          <p:nvPr/>
        </p:nvSpPr>
        <p:spPr>
          <a:xfrm rot="0">
            <a:off x="1634576" y="3042047"/>
            <a:ext cx="7268318" cy="615848"/>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Fetches and parses customer feedback from surveys, reviews, and support tickets.</a:t>
            </a:r>
          </a:p>
        </p:txBody>
      </p:sp>
      <p:sp>
        <p:nvSpPr>
          <p:cNvPr name="Freeform 14" id="14" descr="preencoded.png"/>
          <p:cNvSpPr/>
          <p:nvPr/>
        </p:nvSpPr>
        <p:spPr>
          <a:xfrm flipH="false" flipV="false" rot="0">
            <a:off x="1066352" y="3979069"/>
            <a:ext cx="296466" cy="296466"/>
          </a:xfrm>
          <a:custGeom>
            <a:avLst/>
            <a:gdLst/>
            <a:ahLst/>
            <a:cxnLst/>
            <a:rect r="r" b="b" t="t" l="l"/>
            <a:pathLst>
              <a:path h="296466" w="296466">
                <a:moveTo>
                  <a:pt x="0" y="0"/>
                </a:moveTo>
                <a:lnTo>
                  <a:pt x="296466" y="0"/>
                </a:lnTo>
                <a:lnTo>
                  <a:pt x="296466" y="296465"/>
                </a:lnTo>
                <a:lnTo>
                  <a:pt x="0" y="296465"/>
                </a:lnTo>
                <a:lnTo>
                  <a:pt x="0" y="0"/>
                </a:lnTo>
                <a:close/>
              </a:path>
            </a:pathLst>
          </a:custGeom>
          <a:blipFill>
            <a:blip r:embed="rId3">
              <a:extLst>
                <a:ext uri="{96DAC541-7B7A-43D3-8B79-37D633B846F1}">
                  <asvg:svgBlip xmlns:asvg="http://schemas.microsoft.com/office/drawing/2016/SVG/main" r:embed="rId4"/>
                </a:ext>
              </a:extLst>
            </a:blip>
            <a:stretch>
              <a:fillRect l="-7813" t="0" r="-7810" b="0"/>
            </a:stretch>
          </a:blipFill>
        </p:spPr>
      </p:sp>
      <p:sp>
        <p:nvSpPr>
          <p:cNvPr name="TextBox 15" id="15"/>
          <p:cNvSpPr txBox="true"/>
          <p:nvPr/>
        </p:nvSpPr>
        <p:spPr>
          <a:xfrm rot="0">
            <a:off x="1634576" y="3963438"/>
            <a:ext cx="7268318" cy="318345"/>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Competitor Research Tool</a:t>
            </a:r>
          </a:p>
        </p:txBody>
      </p:sp>
      <p:sp>
        <p:nvSpPr>
          <p:cNvPr name="TextBox 16" id="16"/>
          <p:cNvSpPr txBox="true"/>
          <p:nvPr/>
        </p:nvSpPr>
        <p:spPr>
          <a:xfrm rot="0">
            <a:off x="1634576" y="4391625"/>
            <a:ext cx="7268318" cy="331737"/>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Queries market data sources to gather competitor feature sets and positioning.</a:t>
            </a:r>
          </a:p>
        </p:txBody>
      </p:sp>
      <p:sp>
        <p:nvSpPr>
          <p:cNvPr name="Freeform 17" id="17" descr="preencoded.png"/>
          <p:cNvSpPr/>
          <p:nvPr/>
        </p:nvSpPr>
        <p:spPr>
          <a:xfrm flipH="false" flipV="false" rot="0">
            <a:off x="1066352" y="5044526"/>
            <a:ext cx="296466" cy="296466"/>
          </a:xfrm>
          <a:custGeom>
            <a:avLst/>
            <a:gdLst/>
            <a:ahLst/>
            <a:cxnLst/>
            <a:rect r="r" b="b" t="t" l="l"/>
            <a:pathLst>
              <a:path h="296466" w="296466">
                <a:moveTo>
                  <a:pt x="0" y="0"/>
                </a:moveTo>
                <a:lnTo>
                  <a:pt x="296466" y="0"/>
                </a:lnTo>
                <a:lnTo>
                  <a:pt x="296466" y="296465"/>
                </a:lnTo>
                <a:lnTo>
                  <a:pt x="0" y="296465"/>
                </a:lnTo>
                <a:lnTo>
                  <a:pt x="0" y="0"/>
                </a:lnTo>
                <a:close/>
              </a:path>
            </a:pathLst>
          </a:custGeom>
          <a:blipFill>
            <a:blip r:embed="rId3">
              <a:extLst>
                <a:ext uri="{96DAC541-7B7A-43D3-8B79-37D633B846F1}">
                  <asvg:svgBlip xmlns:asvg="http://schemas.microsoft.com/office/drawing/2016/SVG/main" r:embed="rId4"/>
                </a:ext>
              </a:extLst>
            </a:blip>
            <a:stretch>
              <a:fillRect l="-7813" t="0" r="-7810" b="0"/>
            </a:stretch>
          </a:blipFill>
        </p:spPr>
      </p:sp>
      <p:sp>
        <p:nvSpPr>
          <p:cNvPr name="TextBox 18" id="18"/>
          <p:cNvSpPr txBox="true"/>
          <p:nvPr/>
        </p:nvSpPr>
        <p:spPr>
          <a:xfrm rot="0">
            <a:off x="1634576" y="5028905"/>
            <a:ext cx="7268318" cy="318345"/>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Shared Memory Tool</a:t>
            </a:r>
          </a:p>
        </p:txBody>
      </p:sp>
      <p:sp>
        <p:nvSpPr>
          <p:cNvPr name="TextBox 19" id="19"/>
          <p:cNvSpPr txBox="true"/>
          <p:nvPr/>
        </p:nvSpPr>
        <p:spPr>
          <a:xfrm rot="0">
            <a:off x="1634576" y="5457082"/>
            <a:ext cx="7268318" cy="615848"/>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Read/write interface for agents to access and update the shared product context.</a:t>
            </a:r>
          </a:p>
        </p:txBody>
      </p:sp>
      <p:sp>
        <p:nvSpPr>
          <p:cNvPr name="Freeform 20" id="20" descr="preencoded.png"/>
          <p:cNvSpPr/>
          <p:nvPr/>
        </p:nvSpPr>
        <p:spPr>
          <a:xfrm flipH="false" flipV="false" rot="0">
            <a:off x="1066352" y="6394104"/>
            <a:ext cx="296466" cy="296466"/>
          </a:xfrm>
          <a:custGeom>
            <a:avLst/>
            <a:gdLst/>
            <a:ahLst/>
            <a:cxnLst/>
            <a:rect r="r" b="b" t="t" l="l"/>
            <a:pathLst>
              <a:path h="296466" w="296466">
                <a:moveTo>
                  <a:pt x="0" y="0"/>
                </a:moveTo>
                <a:lnTo>
                  <a:pt x="296466" y="0"/>
                </a:lnTo>
                <a:lnTo>
                  <a:pt x="296466" y="296466"/>
                </a:lnTo>
                <a:lnTo>
                  <a:pt x="0" y="296466"/>
                </a:lnTo>
                <a:lnTo>
                  <a:pt x="0" y="0"/>
                </a:lnTo>
                <a:close/>
              </a:path>
            </a:pathLst>
          </a:custGeom>
          <a:blipFill>
            <a:blip r:embed="rId3">
              <a:extLst>
                <a:ext uri="{96DAC541-7B7A-43D3-8B79-37D633B846F1}">
                  <asvg:svgBlip xmlns:asvg="http://schemas.microsoft.com/office/drawing/2016/SVG/main" r:embed="rId4"/>
                </a:ext>
              </a:extLst>
            </a:blip>
            <a:stretch>
              <a:fillRect l="-7813" t="0" r="-7810" b="0"/>
            </a:stretch>
          </a:blipFill>
        </p:spPr>
      </p:sp>
      <p:sp>
        <p:nvSpPr>
          <p:cNvPr name="TextBox 21" id="21"/>
          <p:cNvSpPr txBox="true"/>
          <p:nvPr/>
        </p:nvSpPr>
        <p:spPr>
          <a:xfrm rot="0">
            <a:off x="1634576" y="6378473"/>
            <a:ext cx="7268318" cy="318345"/>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Roadmap Generator Tool</a:t>
            </a:r>
          </a:p>
        </p:txBody>
      </p:sp>
      <p:sp>
        <p:nvSpPr>
          <p:cNvPr name="TextBox 22" id="22"/>
          <p:cNvSpPr txBox="true"/>
          <p:nvPr/>
        </p:nvSpPr>
        <p:spPr>
          <a:xfrm rot="0">
            <a:off x="1634576" y="6806651"/>
            <a:ext cx="7268318" cy="331737"/>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Formats prioritized features into a structured, time-phased product roadmap.</a:t>
            </a:r>
          </a:p>
        </p:txBody>
      </p:sp>
      <p:sp>
        <p:nvSpPr>
          <p:cNvPr name="Freeform 23" id="23" descr="preencoded.png"/>
          <p:cNvSpPr/>
          <p:nvPr/>
        </p:nvSpPr>
        <p:spPr>
          <a:xfrm flipH="false" flipV="false" rot="0">
            <a:off x="1066352" y="7459561"/>
            <a:ext cx="296466" cy="296466"/>
          </a:xfrm>
          <a:custGeom>
            <a:avLst/>
            <a:gdLst/>
            <a:ahLst/>
            <a:cxnLst/>
            <a:rect r="r" b="b" t="t" l="l"/>
            <a:pathLst>
              <a:path h="296466" w="296466">
                <a:moveTo>
                  <a:pt x="0" y="0"/>
                </a:moveTo>
                <a:lnTo>
                  <a:pt x="296466" y="0"/>
                </a:lnTo>
                <a:lnTo>
                  <a:pt x="296466" y="296466"/>
                </a:lnTo>
                <a:lnTo>
                  <a:pt x="0" y="296466"/>
                </a:lnTo>
                <a:lnTo>
                  <a:pt x="0" y="0"/>
                </a:lnTo>
                <a:close/>
              </a:path>
            </a:pathLst>
          </a:custGeom>
          <a:blipFill>
            <a:blip r:embed="rId3">
              <a:extLst>
                <a:ext uri="{96DAC541-7B7A-43D3-8B79-37D633B846F1}">
                  <asvg:svgBlip xmlns:asvg="http://schemas.microsoft.com/office/drawing/2016/SVG/main" r:embed="rId4"/>
                </a:ext>
              </a:extLst>
            </a:blip>
            <a:stretch>
              <a:fillRect l="-7813" t="0" r="-7810" b="0"/>
            </a:stretch>
          </a:blipFill>
        </p:spPr>
      </p:sp>
      <p:sp>
        <p:nvSpPr>
          <p:cNvPr name="TextBox 24" id="24"/>
          <p:cNvSpPr txBox="true"/>
          <p:nvPr/>
        </p:nvSpPr>
        <p:spPr>
          <a:xfrm rot="0">
            <a:off x="1634576" y="7443940"/>
            <a:ext cx="7268318" cy="318345"/>
          </a:xfrm>
          <a:prstGeom prst="rect">
            <a:avLst/>
          </a:prstGeom>
        </p:spPr>
        <p:txBody>
          <a:bodyPr anchor="t" rtlCol="false" tIns="0" lIns="0" bIns="0" rIns="0">
            <a:spAutoFit/>
          </a:bodyPr>
          <a:lstStyle/>
          <a:p>
            <a:pPr algn="l">
              <a:lnSpc>
                <a:spcPts val="2371"/>
              </a:lnSpc>
            </a:pPr>
            <a:r>
              <a:rPr lang="en-US" sz="1900">
                <a:solidFill>
                  <a:srgbClr val="55575A"/>
                </a:solidFill>
                <a:latin typeface="Inter"/>
                <a:ea typeface="Inter"/>
                <a:cs typeface="Inter"/>
                <a:sym typeface="Inter"/>
              </a:rPr>
              <a:t>Human Approval Tool</a:t>
            </a:r>
          </a:p>
        </p:txBody>
      </p:sp>
      <p:sp>
        <p:nvSpPr>
          <p:cNvPr name="TextBox 25" id="25"/>
          <p:cNvSpPr txBox="true"/>
          <p:nvPr/>
        </p:nvSpPr>
        <p:spPr>
          <a:xfrm rot="0">
            <a:off x="1634576" y="7872117"/>
            <a:ext cx="7268318" cy="331737"/>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Pauses execution and surfaces decisions for human review before proceeding.</a:t>
            </a:r>
          </a:p>
        </p:txBody>
      </p:sp>
      <p:grpSp>
        <p:nvGrpSpPr>
          <p:cNvPr name="Group 26" id="26"/>
          <p:cNvGrpSpPr/>
          <p:nvPr/>
        </p:nvGrpSpPr>
        <p:grpSpPr>
          <a:xfrm rot="0">
            <a:off x="9252347" y="1980009"/>
            <a:ext cx="8195224" cy="6400952"/>
            <a:chOff x="0" y="0"/>
            <a:chExt cx="10926966" cy="8534603"/>
          </a:xfrm>
        </p:grpSpPr>
        <p:sp>
          <p:nvSpPr>
            <p:cNvPr name="Freeform 27" id="27"/>
            <p:cNvSpPr/>
            <p:nvPr/>
          </p:nvSpPr>
          <p:spPr>
            <a:xfrm flipH="false" flipV="false" rot="0">
              <a:off x="0" y="0"/>
              <a:ext cx="10926953" cy="8534527"/>
            </a:xfrm>
            <a:custGeom>
              <a:avLst/>
              <a:gdLst/>
              <a:ahLst/>
              <a:cxnLst/>
              <a:rect r="r" b="b" t="t" l="l"/>
              <a:pathLst>
                <a:path h="8534527" w="10926953">
                  <a:moveTo>
                    <a:pt x="0" y="379603"/>
                  </a:moveTo>
                  <a:cubicBezTo>
                    <a:pt x="0" y="169926"/>
                    <a:pt x="169926" y="0"/>
                    <a:pt x="379603" y="0"/>
                  </a:cubicBezTo>
                  <a:lnTo>
                    <a:pt x="10547350" y="0"/>
                  </a:lnTo>
                  <a:cubicBezTo>
                    <a:pt x="10757027" y="0"/>
                    <a:pt x="10926953" y="169926"/>
                    <a:pt x="10926953" y="379603"/>
                  </a:cubicBezTo>
                  <a:lnTo>
                    <a:pt x="10926953" y="8154924"/>
                  </a:lnTo>
                  <a:cubicBezTo>
                    <a:pt x="10926953" y="8364601"/>
                    <a:pt x="10757027" y="8534527"/>
                    <a:pt x="10547350" y="8534527"/>
                  </a:cubicBezTo>
                  <a:lnTo>
                    <a:pt x="379603" y="8534527"/>
                  </a:lnTo>
                  <a:cubicBezTo>
                    <a:pt x="169926" y="8534654"/>
                    <a:pt x="0" y="8364601"/>
                    <a:pt x="0" y="8154924"/>
                  </a:cubicBezTo>
                  <a:close/>
                </a:path>
              </a:pathLst>
            </a:custGeom>
            <a:solidFill>
              <a:srgbClr val="FFF0ED"/>
            </a:solidFill>
          </p:spPr>
        </p:sp>
      </p:grpSp>
      <p:sp>
        <p:nvSpPr>
          <p:cNvPr name="TextBox 28" id="28"/>
          <p:cNvSpPr txBox="true"/>
          <p:nvPr/>
        </p:nvSpPr>
        <p:spPr>
          <a:xfrm rot="0">
            <a:off x="9449991" y="2127942"/>
            <a:ext cx="7799937" cy="318345"/>
          </a:xfrm>
          <a:prstGeom prst="rect">
            <a:avLst/>
          </a:prstGeom>
        </p:spPr>
        <p:txBody>
          <a:bodyPr anchor="t" rtlCol="false" tIns="0" lIns="0" bIns="0" rIns="0">
            <a:spAutoFit/>
          </a:bodyPr>
          <a:lstStyle/>
          <a:p>
            <a:pPr algn="l">
              <a:lnSpc>
                <a:spcPts val="2371"/>
              </a:lnSpc>
            </a:pPr>
            <a:r>
              <a:rPr lang="en-US" sz="1900">
                <a:solidFill>
                  <a:srgbClr val="0C0D0F"/>
                </a:solidFill>
                <a:latin typeface="Inter"/>
                <a:ea typeface="Inter"/>
                <a:cs typeface="Inter"/>
                <a:sym typeface="Inter"/>
              </a:rPr>
              <a:t>Shared Memory Contents</a:t>
            </a:r>
          </a:p>
        </p:txBody>
      </p:sp>
      <p:sp>
        <p:nvSpPr>
          <p:cNvPr name="TextBox 29" id="29"/>
          <p:cNvSpPr txBox="true"/>
          <p:nvPr/>
        </p:nvSpPr>
        <p:spPr>
          <a:xfrm rot="0">
            <a:off x="9449991" y="2556119"/>
            <a:ext cx="7799937" cy="615848"/>
          </a:xfrm>
          <a:prstGeom prst="rect">
            <a:avLst/>
          </a:prstGeom>
        </p:spPr>
        <p:txBody>
          <a:bodyPr anchor="t" rtlCol="false" tIns="0" lIns="0" bIns="0" rIns="0">
            <a:spAutoFit/>
          </a:bodyPr>
          <a:lstStyle/>
          <a:p>
            <a:pPr algn="l">
              <a:lnSpc>
                <a:spcPts val="2160"/>
              </a:lnSpc>
            </a:pPr>
            <a:r>
              <a:rPr lang="en-US" sz="1500">
                <a:solidFill>
                  <a:srgbClr val="55575A"/>
                </a:solidFill>
                <a:latin typeface="Arimo"/>
                <a:ea typeface="Arimo"/>
                <a:cs typeface="Arimo"/>
                <a:sym typeface="Arimo"/>
              </a:rPr>
              <a:t>All agents read from and write to a unified memory store, ensuring consistent context across the pipeline.</a:t>
            </a:r>
          </a:p>
        </p:txBody>
      </p:sp>
      <p:grpSp>
        <p:nvGrpSpPr>
          <p:cNvPr name="Group 30" id="30"/>
          <p:cNvGrpSpPr/>
          <p:nvPr/>
        </p:nvGrpSpPr>
        <p:grpSpPr>
          <a:xfrm rot="0">
            <a:off x="9445228" y="3344313"/>
            <a:ext cx="3830688" cy="732682"/>
            <a:chOff x="0" y="0"/>
            <a:chExt cx="5107584" cy="976909"/>
          </a:xfrm>
        </p:grpSpPr>
        <p:sp>
          <p:nvSpPr>
            <p:cNvPr name="Freeform 31" id="31"/>
            <p:cNvSpPr/>
            <p:nvPr/>
          </p:nvSpPr>
          <p:spPr>
            <a:xfrm flipH="false" flipV="false" rot="0">
              <a:off x="0" y="0"/>
              <a:ext cx="5107686" cy="977011"/>
            </a:xfrm>
            <a:custGeom>
              <a:avLst/>
              <a:gdLst/>
              <a:ahLst/>
              <a:cxnLst/>
              <a:rect r="r" b="b" t="t" l="l"/>
              <a:pathLst>
                <a:path h="977011" w="5107686">
                  <a:moveTo>
                    <a:pt x="0" y="240411"/>
                  </a:moveTo>
                  <a:cubicBezTo>
                    <a:pt x="0" y="107569"/>
                    <a:pt x="107569" y="0"/>
                    <a:pt x="240411" y="0"/>
                  </a:cubicBezTo>
                  <a:lnTo>
                    <a:pt x="4867275" y="0"/>
                  </a:lnTo>
                  <a:cubicBezTo>
                    <a:pt x="4999990" y="0"/>
                    <a:pt x="5107686" y="107569"/>
                    <a:pt x="5107686" y="240411"/>
                  </a:cubicBezTo>
                  <a:lnTo>
                    <a:pt x="5107686" y="736600"/>
                  </a:lnTo>
                  <a:cubicBezTo>
                    <a:pt x="5107686" y="869315"/>
                    <a:pt x="5000117" y="977011"/>
                    <a:pt x="4867275"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32" id="32"/>
          <p:cNvSpPr txBox="true"/>
          <p:nvPr/>
        </p:nvSpPr>
        <p:spPr>
          <a:xfrm rot="0">
            <a:off x="9657159" y="3546719"/>
            <a:ext cx="3406826"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Product Idea</a:t>
            </a:r>
          </a:p>
        </p:txBody>
      </p:sp>
      <p:grpSp>
        <p:nvGrpSpPr>
          <p:cNvPr name="Group 33" id="33"/>
          <p:cNvGrpSpPr/>
          <p:nvPr/>
        </p:nvGrpSpPr>
        <p:grpSpPr>
          <a:xfrm rot="0">
            <a:off x="13423849" y="3344313"/>
            <a:ext cx="3830841" cy="732682"/>
            <a:chOff x="0" y="0"/>
            <a:chExt cx="5107788" cy="976909"/>
          </a:xfrm>
        </p:grpSpPr>
        <p:sp>
          <p:nvSpPr>
            <p:cNvPr name="Freeform 34" id="34"/>
            <p:cNvSpPr/>
            <p:nvPr/>
          </p:nvSpPr>
          <p:spPr>
            <a:xfrm flipH="false" flipV="false" rot="0">
              <a:off x="0" y="0"/>
              <a:ext cx="5107813" cy="977011"/>
            </a:xfrm>
            <a:custGeom>
              <a:avLst/>
              <a:gdLst/>
              <a:ahLst/>
              <a:cxnLst/>
              <a:rect r="r" b="b" t="t" l="l"/>
              <a:pathLst>
                <a:path h="977011" w="5107813">
                  <a:moveTo>
                    <a:pt x="0" y="240411"/>
                  </a:moveTo>
                  <a:cubicBezTo>
                    <a:pt x="0" y="107569"/>
                    <a:pt x="107569" y="0"/>
                    <a:pt x="240411" y="0"/>
                  </a:cubicBezTo>
                  <a:lnTo>
                    <a:pt x="4867402" y="0"/>
                  </a:lnTo>
                  <a:cubicBezTo>
                    <a:pt x="5000117" y="0"/>
                    <a:pt x="5107813" y="107569"/>
                    <a:pt x="5107813" y="240411"/>
                  </a:cubicBezTo>
                  <a:lnTo>
                    <a:pt x="5107813" y="736600"/>
                  </a:lnTo>
                  <a:cubicBezTo>
                    <a:pt x="5107813" y="869315"/>
                    <a:pt x="5000244" y="977011"/>
                    <a:pt x="4867402"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35" id="35"/>
          <p:cNvSpPr txBox="true"/>
          <p:nvPr/>
        </p:nvSpPr>
        <p:spPr>
          <a:xfrm rot="0">
            <a:off x="13635780" y="3546719"/>
            <a:ext cx="3406978"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Feedback Insights</a:t>
            </a:r>
          </a:p>
        </p:txBody>
      </p:sp>
      <p:grpSp>
        <p:nvGrpSpPr>
          <p:cNvPr name="Group 36" id="36"/>
          <p:cNvGrpSpPr/>
          <p:nvPr/>
        </p:nvGrpSpPr>
        <p:grpSpPr>
          <a:xfrm rot="0">
            <a:off x="9445228" y="4224938"/>
            <a:ext cx="3830688" cy="732682"/>
            <a:chOff x="0" y="0"/>
            <a:chExt cx="5107584" cy="976909"/>
          </a:xfrm>
        </p:grpSpPr>
        <p:sp>
          <p:nvSpPr>
            <p:cNvPr name="Freeform 37" id="37"/>
            <p:cNvSpPr/>
            <p:nvPr/>
          </p:nvSpPr>
          <p:spPr>
            <a:xfrm flipH="false" flipV="false" rot="0">
              <a:off x="0" y="0"/>
              <a:ext cx="5107686" cy="977011"/>
            </a:xfrm>
            <a:custGeom>
              <a:avLst/>
              <a:gdLst/>
              <a:ahLst/>
              <a:cxnLst/>
              <a:rect r="r" b="b" t="t" l="l"/>
              <a:pathLst>
                <a:path h="977011" w="5107686">
                  <a:moveTo>
                    <a:pt x="0" y="240411"/>
                  </a:moveTo>
                  <a:cubicBezTo>
                    <a:pt x="0" y="107569"/>
                    <a:pt x="107569" y="0"/>
                    <a:pt x="240411" y="0"/>
                  </a:cubicBezTo>
                  <a:lnTo>
                    <a:pt x="4867275" y="0"/>
                  </a:lnTo>
                  <a:cubicBezTo>
                    <a:pt x="4999990" y="0"/>
                    <a:pt x="5107686" y="107569"/>
                    <a:pt x="5107686" y="240411"/>
                  </a:cubicBezTo>
                  <a:lnTo>
                    <a:pt x="5107686" y="736600"/>
                  </a:lnTo>
                  <a:cubicBezTo>
                    <a:pt x="5107686" y="869315"/>
                    <a:pt x="5000117" y="977011"/>
                    <a:pt x="4867275"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38" id="38"/>
          <p:cNvSpPr txBox="true"/>
          <p:nvPr/>
        </p:nvSpPr>
        <p:spPr>
          <a:xfrm rot="0">
            <a:off x="9657159" y="4427334"/>
            <a:ext cx="3406826"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Competitor Analysis</a:t>
            </a:r>
          </a:p>
        </p:txBody>
      </p:sp>
      <p:grpSp>
        <p:nvGrpSpPr>
          <p:cNvPr name="Group 39" id="39"/>
          <p:cNvGrpSpPr/>
          <p:nvPr/>
        </p:nvGrpSpPr>
        <p:grpSpPr>
          <a:xfrm rot="0">
            <a:off x="13423849" y="4224938"/>
            <a:ext cx="3830841" cy="732682"/>
            <a:chOff x="0" y="0"/>
            <a:chExt cx="5107788" cy="976909"/>
          </a:xfrm>
        </p:grpSpPr>
        <p:sp>
          <p:nvSpPr>
            <p:cNvPr name="Freeform 40" id="40"/>
            <p:cNvSpPr/>
            <p:nvPr/>
          </p:nvSpPr>
          <p:spPr>
            <a:xfrm flipH="false" flipV="false" rot="0">
              <a:off x="0" y="0"/>
              <a:ext cx="5107813" cy="977011"/>
            </a:xfrm>
            <a:custGeom>
              <a:avLst/>
              <a:gdLst/>
              <a:ahLst/>
              <a:cxnLst/>
              <a:rect r="r" b="b" t="t" l="l"/>
              <a:pathLst>
                <a:path h="977011" w="5107813">
                  <a:moveTo>
                    <a:pt x="0" y="240411"/>
                  </a:moveTo>
                  <a:cubicBezTo>
                    <a:pt x="0" y="107569"/>
                    <a:pt x="107569" y="0"/>
                    <a:pt x="240411" y="0"/>
                  </a:cubicBezTo>
                  <a:lnTo>
                    <a:pt x="4867402" y="0"/>
                  </a:lnTo>
                  <a:cubicBezTo>
                    <a:pt x="5000117" y="0"/>
                    <a:pt x="5107813" y="107569"/>
                    <a:pt x="5107813" y="240411"/>
                  </a:cubicBezTo>
                  <a:lnTo>
                    <a:pt x="5107813" y="736600"/>
                  </a:lnTo>
                  <a:cubicBezTo>
                    <a:pt x="5107813" y="869315"/>
                    <a:pt x="5000244" y="977011"/>
                    <a:pt x="4867402"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41" id="41"/>
          <p:cNvSpPr txBox="true"/>
          <p:nvPr/>
        </p:nvSpPr>
        <p:spPr>
          <a:xfrm rot="0">
            <a:off x="13635780" y="4427334"/>
            <a:ext cx="3406978"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Roadmap</a:t>
            </a:r>
          </a:p>
        </p:txBody>
      </p:sp>
      <p:grpSp>
        <p:nvGrpSpPr>
          <p:cNvPr name="Group 42" id="42"/>
          <p:cNvGrpSpPr/>
          <p:nvPr/>
        </p:nvGrpSpPr>
        <p:grpSpPr>
          <a:xfrm rot="0">
            <a:off x="9445228" y="5105552"/>
            <a:ext cx="3830688" cy="732682"/>
            <a:chOff x="0" y="0"/>
            <a:chExt cx="5107584" cy="976909"/>
          </a:xfrm>
        </p:grpSpPr>
        <p:sp>
          <p:nvSpPr>
            <p:cNvPr name="Freeform 43" id="43"/>
            <p:cNvSpPr/>
            <p:nvPr/>
          </p:nvSpPr>
          <p:spPr>
            <a:xfrm flipH="false" flipV="false" rot="0">
              <a:off x="0" y="0"/>
              <a:ext cx="5107686" cy="977011"/>
            </a:xfrm>
            <a:custGeom>
              <a:avLst/>
              <a:gdLst/>
              <a:ahLst/>
              <a:cxnLst/>
              <a:rect r="r" b="b" t="t" l="l"/>
              <a:pathLst>
                <a:path h="977011" w="5107686">
                  <a:moveTo>
                    <a:pt x="0" y="240411"/>
                  </a:moveTo>
                  <a:cubicBezTo>
                    <a:pt x="0" y="107569"/>
                    <a:pt x="107569" y="0"/>
                    <a:pt x="240411" y="0"/>
                  </a:cubicBezTo>
                  <a:lnTo>
                    <a:pt x="4867275" y="0"/>
                  </a:lnTo>
                  <a:cubicBezTo>
                    <a:pt x="4999990" y="0"/>
                    <a:pt x="5107686" y="107569"/>
                    <a:pt x="5107686" y="240411"/>
                  </a:cubicBezTo>
                  <a:lnTo>
                    <a:pt x="5107686" y="736600"/>
                  </a:lnTo>
                  <a:cubicBezTo>
                    <a:pt x="5107686" y="869315"/>
                    <a:pt x="5000117" y="977011"/>
                    <a:pt x="4867275"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44" id="44"/>
          <p:cNvSpPr txBox="true"/>
          <p:nvPr/>
        </p:nvSpPr>
        <p:spPr>
          <a:xfrm rot="0">
            <a:off x="9657159" y="5307959"/>
            <a:ext cx="3406826"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PRD</a:t>
            </a:r>
          </a:p>
        </p:txBody>
      </p:sp>
      <p:grpSp>
        <p:nvGrpSpPr>
          <p:cNvPr name="Group 45" id="45"/>
          <p:cNvGrpSpPr/>
          <p:nvPr/>
        </p:nvGrpSpPr>
        <p:grpSpPr>
          <a:xfrm rot="0">
            <a:off x="13423849" y="5105552"/>
            <a:ext cx="3830841" cy="732682"/>
            <a:chOff x="0" y="0"/>
            <a:chExt cx="5107788" cy="976909"/>
          </a:xfrm>
        </p:grpSpPr>
        <p:sp>
          <p:nvSpPr>
            <p:cNvPr name="Freeform 46" id="46"/>
            <p:cNvSpPr/>
            <p:nvPr/>
          </p:nvSpPr>
          <p:spPr>
            <a:xfrm flipH="false" flipV="false" rot="0">
              <a:off x="0" y="0"/>
              <a:ext cx="5107813" cy="977011"/>
            </a:xfrm>
            <a:custGeom>
              <a:avLst/>
              <a:gdLst/>
              <a:ahLst/>
              <a:cxnLst/>
              <a:rect r="r" b="b" t="t" l="l"/>
              <a:pathLst>
                <a:path h="977011" w="5107813">
                  <a:moveTo>
                    <a:pt x="0" y="240411"/>
                  </a:moveTo>
                  <a:cubicBezTo>
                    <a:pt x="0" y="107569"/>
                    <a:pt x="107569" y="0"/>
                    <a:pt x="240411" y="0"/>
                  </a:cubicBezTo>
                  <a:lnTo>
                    <a:pt x="4867402" y="0"/>
                  </a:lnTo>
                  <a:cubicBezTo>
                    <a:pt x="5000117" y="0"/>
                    <a:pt x="5107813" y="107569"/>
                    <a:pt x="5107813" y="240411"/>
                  </a:cubicBezTo>
                  <a:lnTo>
                    <a:pt x="5107813" y="736600"/>
                  </a:lnTo>
                  <a:cubicBezTo>
                    <a:pt x="5107813" y="869315"/>
                    <a:pt x="5000244" y="977011"/>
                    <a:pt x="4867402" y="977011"/>
                  </a:cubicBezTo>
                  <a:lnTo>
                    <a:pt x="240411" y="977011"/>
                  </a:lnTo>
                  <a:cubicBezTo>
                    <a:pt x="107569" y="976884"/>
                    <a:pt x="0" y="869315"/>
                    <a:pt x="0" y="736600"/>
                  </a:cubicBezTo>
                  <a:close/>
                </a:path>
              </a:pathLst>
            </a:custGeom>
            <a:solidFill>
              <a:srgbClr val="FFF0ED"/>
            </a:solidFill>
            <a:ln w="9526" cap="sq">
              <a:solidFill>
                <a:srgbClr val="FF7047"/>
              </a:solidFill>
              <a:prstDash val="solid"/>
              <a:miter/>
            </a:ln>
          </p:spPr>
        </p:sp>
      </p:grpSp>
      <p:sp>
        <p:nvSpPr>
          <p:cNvPr name="TextBox 47" id="47"/>
          <p:cNvSpPr txBox="true"/>
          <p:nvPr/>
        </p:nvSpPr>
        <p:spPr>
          <a:xfrm rot="0">
            <a:off x="13635780" y="5307959"/>
            <a:ext cx="3406978" cy="318345"/>
          </a:xfrm>
          <a:prstGeom prst="rect">
            <a:avLst/>
          </a:prstGeom>
        </p:spPr>
        <p:txBody>
          <a:bodyPr anchor="t" rtlCol="false" tIns="0" lIns="0" bIns="0" rIns="0">
            <a:spAutoFit/>
          </a:bodyPr>
          <a:lstStyle/>
          <a:p>
            <a:pPr algn="l">
              <a:lnSpc>
                <a:spcPts val="2371"/>
              </a:lnSpc>
            </a:pPr>
            <a:r>
              <a:rPr lang="en-US" sz="1900">
                <a:solidFill>
                  <a:srgbClr val="000000"/>
                </a:solidFill>
                <a:latin typeface="Inter"/>
                <a:ea typeface="Inter"/>
                <a:cs typeface="Inter"/>
                <a:sym typeface="Inter"/>
              </a:rPr>
              <a:t>📋</a:t>
            </a:r>
            <a:r>
              <a:rPr lang="en-US" sz="1900">
                <a:solidFill>
                  <a:srgbClr val="55575A"/>
                </a:solidFill>
                <a:latin typeface="Inter"/>
                <a:ea typeface="Inter"/>
                <a:cs typeface="Inter"/>
                <a:sym typeface="Inter"/>
              </a:rPr>
              <a:t> Sprint Plan</a:t>
            </a:r>
          </a:p>
        </p:txBody>
      </p:sp>
      <p:grpSp>
        <p:nvGrpSpPr>
          <p:cNvPr name="Group 48" id="48"/>
          <p:cNvGrpSpPr/>
          <p:nvPr/>
        </p:nvGrpSpPr>
        <p:grpSpPr>
          <a:xfrm rot="0">
            <a:off x="992238" y="8558060"/>
            <a:ext cx="16303523" cy="966187"/>
            <a:chOff x="0" y="0"/>
            <a:chExt cx="21738031" cy="1288250"/>
          </a:xfrm>
        </p:grpSpPr>
        <p:sp>
          <p:nvSpPr>
            <p:cNvPr name="Freeform 49" id="49"/>
            <p:cNvSpPr/>
            <p:nvPr/>
          </p:nvSpPr>
          <p:spPr>
            <a:xfrm flipH="false" flipV="false" rot="0">
              <a:off x="0" y="0"/>
              <a:ext cx="21738082" cy="1288288"/>
            </a:xfrm>
            <a:custGeom>
              <a:avLst/>
              <a:gdLst/>
              <a:ahLst/>
              <a:cxnLst/>
              <a:rect r="r" b="b" t="t" l="l"/>
              <a:pathLst>
                <a:path h="1288288" w="21738082">
                  <a:moveTo>
                    <a:pt x="0" y="237236"/>
                  </a:moveTo>
                  <a:cubicBezTo>
                    <a:pt x="0" y="106172"/>
                    <a:pt x="106172" y="0"/>
                    <a:pt x="237236" y="0"/>
                  </a:cubicBezTo>
                  <a:lnTo>
                    <a:pt x="21500846" y="0"/>
                  </a:lnTo>
                  <a:cubicBezTo>
                    <a:pt x="21631911" y="0"/>
                    <a:pt x="21738082" y="106172"/>
                    <a:pt x="21738082" y="237236"/>
                  </a:cubicBezTo>
                  <a:lnTo>
                    <a:pt x="21738082" y="1051052"/>
                  </a:lnTo>
                  <a:cubicBezTo>
                    <a:pt x="21738082" y="1182116"/>
                    <a:pt x="21631911" y="1288288"/>
                    <a:pt x="21500846" y="1288288"/>
                  </a:cubicBezTo>
                  <a:lnTo>
                    <a:pt x="237236" y="1288288"/>
                  </a:lnTo>
                  <a:cubicBezTo>
                    <a:pt x="106172" y="1288288"/>
                    <a:pt x="0" y="1181989"/>
                    <a:pt x="0" y="1051052"/>
                  </a:cubicBezTo>
                  <a:close/>
                </a:path>
              </a:pathLst>
            </a:custGeom>
            <a:solidFill>
              <a:srgbClr val="FFD7CC"/>
            </a:solidFill>
          </p:spPr>
        </p:sp>
      </p:grpSp>
      <p:grpSp>
        <p:nvGrpSpPr>
          <p:cNvPr name="Group 50" id="50"/>
          <p:cNvGrpSpPr/>
          <p:nvPr/>
        </p:nvGrpSpPr>
        <p:grpSpPr>
          <a:xfrm rot="0">
            <a:off x="1189882" y="8822684"/>
            <a:ext cx="247050" cy="197644"/>
            <a:chOff x="0" y="0"/>
            <a:chExt cx="329400" cy="263525"/>
          </a:xfrm>
        </p:grpSpPr>
        <p:sp>
          <p:nvSpPr>
            <p:cNvPr name="Freeform 51" id="51" descr="preencoded.png"/>
            <p:cNvSpPr/>
            <p:nvPr/>
          </p:nvSpPr>
          <p:spPr>
            <a:xfrm flipH="false" flipV="false" rot="0">
              <a:off x="0" y="0"/>
              <a:ext cx="329438" cy="263525"/>
            </a:xfrm>
            <a:custGeom>
              <a:avLst/>
              <a:gdLst/>
              <a:ahLst/>
              <a:cxnLst/>
              <a:rect r="r" b="b" t="t" l="l"/>
              <a:pathLst>
                <a:path h="263525" w="329438">
                  <a:moveTo>
                    <a:pt x="0" y="0"/>
                  </a:moveTo>
                  <a:lnTo>
                    <a:pt x="329438" y="0"/>
                  </a:lnTo>
                  <a:lnTo>
                    <a:pt x="329438" y="263525"/>
                  </a:lnTo>
                  <a:lnTo>
                    <a:pt x="0" y="263525"/>
                  </a:lnTo>
                  <a:lnTo>
                    <a:pt x="0" y="0"/>
                  </a:lnTo>
                  <a:close/>
                </a:path>
              </a:pathLst>
            </a:custGeom>
            <a:blipFill>
              <a:blip r:embed="rId5"/>
              <a:stretch>
                <a:fillRect l="0" t="-481" r="11" b="-477"/>
              </a:stretch>
            </a:blipFill>
          </p:spPr>
        </p:sp>
      </p:grpSp>
      <p:sp>
        <p:nvSpPr>
          <p:cNvPr name="TextBox 52" id="52"/>
          <p:cNvSpPr txBox="true"/>
          <p:nvPr/>
        </p:nvSpPr>
        <p:spPr>
          <a:xfrm rot="0">
            <a:off x="1634576" y="8717309"/>
            <a:ext cx="15463542" cy="615848"/>
          </a:xfrm>
          <a:prstGeom prst="rect">
            <a:avLst/>
          </a:prstGeom>
        </p:spPr>
        <p:txBody>
          <a:bodyPr anchor="t" rtlCol="false" tIns="0" lIns="0" bIns="0" rIns="0">
            <a:spAutoFit/>
          </a:bodyPr>
          <a:lstStyle/>
          <a:p>
            <a:pPr algn="l">
              <a:lnSpc>
                <a:spcPts val="2160"/>
              </a:lnSpc>
            </a:pPr>
            <a:r>
              <a:rPr lang="en-US" sz="1500" b="true">
                <a:solidFill>
                  <a:srgbClr val="000000"/>
                </a:solidFill>
                <a:latin typeface="Arimo Bold"/>
                <a:ea typeface="Arimo Bold"/>
                <a:cs typeface="Arimo Bold"/>
                <a:sym typeface="Arimo Bold"/>
              </a:rPr>
              <a:t>Speaker Notes:</a:t>
            </a:r>
            <a:r>
              <a:rPr lang="en-US" sz="1500">
                <a:solidFill>
                  <a:srgbClr val="000000"/>
                </a:solidFill>
                <a:latin typeface="Arimo"/>
                <a:ea typeface="Arimo"/>
                <a:cs typeface="Arimo"/>
                <a:sym typeface="Arimo"/>
              </a:rPr>
              <a:t> Tools are the interfaces agents use to interact with the external world and each other. Shared memory is the backbone — it stores every artifact produced during the pipeline, making context available to all agents at any stage.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87476" y="763934"/>
            <a:ext cx="2026739" cy="362693"/>
            <a:chOff x="0" y="0"/>
            <a:chExt cx="2702319" cy="483591"/>
          </a:xfrm>
        </p:grpSpPr>
        <p:sp>
          <p:nvSpPr>
            <p:cNvPr name="Freeform 7" id="7"/>
            <p:cNvSpPr/>
            <p:nvPr/>
          </p:nvSpPr>
          <p:spPr>
            <a:xfrm flipH="false" flipV="false" rot="0">
              <a:off x="0" y="0"/>
              <a:ext cx="2702433" cy="483743"/>
            </a:xfrm>
            <a:custGeom>
              <a:avLst/>
              <a:gdLst/>
              <a:ahLst/>
              <a:cxnLst/>
              <a:rect r="r" b="b" t="t" l="l"/>
              <a:pathLst>
                <a:path h="483743" w="2702433">
                  <a:moveTo>
                    <a:pt x="0" y="229362"/>
                  </a:moveTo>
                  <a:cubicBezTo>
                    <a:pt x="0" y="102616"/>
                    <a:pt x="102616" y="0"/>
                    <a:pt x="229362" y="0"/>
                  </a:cubicBezTo>
                  <a:lnTo>
                    <a:pt x="2473071" y="0"/>
                  </a:lnTo>
                  <a:cubicBezTo>
                    <a:pt x="2599690" y="0"/>
                    <a:pt x="2702433" y="102616"/>
                    <a:pt x="2702433" y="229362"/>
                  </a:cubicBezTo>
                  <a:lnTo>
                    <a:pt x="2702433" y="254381"/>
                  </a:lnTo>
                  <a:cubicBezTo>
                    <a:pt x="2702433" y="381000"/>
                    <a:pt x="2599817" y="483743"/>
                    <a:pt x="2473071" y="483743"/>
                  </a:cubicBezTo>
                  <a:lnTo>
                    <a:pt x="229362" y="483743"/>
                  </a:lnTo>
                  <a:cubicBezTo>
                    <a:pt x="102616" y="483616"/>
                    <a:pt x="0" y="380873"/>
                    <a:pt x="0" y="254254"/>
                  </a:cubicBezTo>
                  <a:close/>
                </a:path>
              </a:pathLst>
            </a:custGeom>
            <a:blipFill>
              <a:blip r:embed="rId3">
                <a:alphaModFix amt="0"/>
              </a:blip>
              <a:stretch>
                <a:fillRect l="0" t="-58864" r="4" b="-58832"/>
              </a:stretch>
            </a:blipFill>
            <a:ln w="9526" cap="sq">
              <a:solidFill>
                <a:srgbClr val="FF7047"/>
              </a:solidFill>
              <a:prstDash val="solid"/>
              <a:miter/>
            </a:ln>
          </p:spPr>
        </p:sp>
      </p:grpSp>
      <p:sp>
        <p:nvSpPr>
          <p:cNvPr name="TextBox 8" id="8"/>
          <p:cNvSpPr txBox="true"/>
          <p:nvPr/>
        </p:nvSpPr>
        <p:spPr>
          <a:xfrm rot="0">
            <a:off x="1131694" y="819302"/>
            <a:ext cx="2652712" cy="232915"/>
          </a:xfrm>
          <a:prstGeom prst="rect">
            <a:avLst/>
          </a:prstGeom>
        </p:spPr>
        <p:txBody>
          <a:bodyPr anchor="t" rtlCol="false" tIns="0" lIns="0" bIns="0" rIns="0">
            <a:spAutoFit/>
          </a:bodyPr>
          <a:lstStyle/>
          <a:p>
            <a:pPr algn="l">
              <a:lnSpc>
                <a:spcPts val="1612"/>
              </a:lnSpc>
            </a:pPr>
            <a:r>
              <a:rPr lang="en-US" sz="1399">
                <a:solidFill>
                  <a:srgbClr val="FF7047"/>
                </a:solidFill>
                <a:latin typeface="Arimo"/>
                <a:ea typeface="Arimo"/>
                <a:cs typeface="Arimo"/>
                <a:sym typeface="Arimo"/>
              </a:rPr>
              <a:t>SAMPLE EXECUTION</a:t>
            </a:r>
          </a:p>
        </p:txBody>
      </p:sp>
      <p:sp>
        <p:nvSpPr>
          <p:cNvPr name="TextBox 9" id="9"/>
          <p:cNvSpPr txBox="true"/>
          <p:nvPr/>
        </p:nvSpPr>
        <p:spPr>
          <a:xfrm rot="0">
            <a:off x="992238" y="1180509"/>
            <a:ext cx="16303523" cy="755304"/>
          </a:xfrm>
          <a:prstGeom prst="rect">
            <a:avLst/>
          </a:prstGeom>
        </p:spPr>
        <p:txBody>
          <a:bodyPr anchor="t" rtlCol="false" tIns="0" lIns="0" bIns="0" rIns="0">
            <a:spAutoFit/>
          </a:bodyPr>
          <a:lstStyle/>
          <a:p>
            <a:pPr algn="l">
              <a:lnSpc>
                <a:spcPts val="5616"/>
              </a:lnSpc>
            </a:pPr>
            <a:r>
              <a:rPr lang="en-US" sz="4500">
                <a:solidFill>
                  <a:srgbClr val="0C0D0F"/>
                </a:solidFill>
                <a:latin typeface="Inter"/>
                <a:ea typeface="Inter"/>
                <a:cs typeface="Inter"/>
                <a:sym typeface="Inter"/>
              </a:rPr>
              <a:t>System Output: From Input to Sprint Plan</a:t>
            </a:r>
          </a:p>
        </p:txBody>
      </p:sp>
      <p:sp>
        <p:nvSpPr>
          <p:cNvPr name="TextBox 10" id="10"/>
          <p:cNvSpPr txBox="true"/>
          <p:nvPr/>
        </p:nvSpPr>
        <p:spPr>
          <a:xfrm rot="0">
            <a:off x="992238" y="2186578"/>
            <a:ext cx="17217923" cy="436664"/>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The following represents the structured outputs generated at each stage of the pipeline when processing a sample product idea.</a:t>
            </a:r>
          </a:p>
        </p:txBody>
      </p:sp>
      <p:sp>
        <p:nvSpPr>
          <p:cNvPr name="Freeform 11" id="11" descr="preencoded.png"/>
          <p:cNvSpPr/>
          <p:nvPr/>
        </p:nvSpPr>
        <p:spPr>
          <a:xfrm flipH="false" flipV="false" rot="0">
            <a:off x="992238" y="2868511"/>
            <a:ext cx="5289052" cy="2467566"/>
          </a:xfrm>
          <a:custGeom>
            <a:avLst/>
            <a:gdLst/>
            <a:ahLst/>
            <a:cxnLst/>
            <a:rect r="r" b="b" t="t" l="l"/>
            <a:pathLst>
              <a:path h="2467566" w="5289052">
                <a:moveTo>
                  <a:pt x="0" y="0"/>
                </a:moveTo>
                <a:lnTo>
                  <a:pt x="5289052" y="0"/>
                </a:lnTo>
                <a:lnTo>
                  <a:pt x="5289052" y="2467565"/>
                </a:lnTo>
                <a:lnTo>
                  <a:pt x="0" y="2467565"/>
                </a:lnTo>
                <a:lnTo>
                  <a:pt x="0" y="0"/>
                </a:lnTo>
                <a:close/>
              </a:path>
            </a:pathLst>
          </a:custGeom>
          <a:blipFill>
            <a:blip r:embed="rId4">
              <a:extLst>
                <a:ext uri="{96DAC541-7B7A-43D3-8B79-37D633B846F1}">
                  <asvg:svgBlip xmlns:asvg="http://schemas.microsoft.com/office/drawing/2016/SVG/main" r:embed="rId5"/>
                </a:ext>
              </a:extLst>
            </a:blip>
            <a:stretch>
              <a:fillRect l="0" t="-116" r="0" b="-116"/>
            </a:stretch>
          </a:blipFill>
        </p:spPr>
      </p:sp>
      <p:sp>
        <p:nvSpPr>
          <p:cNvPr name="TextBox 12" id="12"/>
          <p:cNvSpPr txBox="true"/>
          <p:nvPr/>
        </p:nvSpPr>
        <p:spPr>
          <a:xfrm rot="0">
            <a:off x="1367580" y="3120038"/>
            <a:ext cx="4652667" cy="382343"/>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Feedback Analysis Output</a:t>
            </a:r>
          </a:p>
        </p:txBody>
      </p:sp>
      <p:sp>
        <p:nvSpPr>
          <p:cNvPr name="TextBox 13" id="13"/>
          <p:cNvSpPr txBox="true"/>
          <p:nvPr/>
        </p:nvSpPr>
        <p:spPr>
          <a:xfrm rot="0">
            <a:off x="1367580" y="3556987"/>
            <a:ext cx="4652667" cy="1518047"/>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Identified top 5 user pain points with sentiment scores and frequency metrics. Key theme: onboarding friction cited by 68% of respondents.</a:t>
            </a:r>
          </a:p>
        </p:txBody>
      </p:sp>
      <p:sp>
        <p:nvSpPr>
          <p:cNvPr name="Freeform 14" id="14" descr="preencoded.png"/>
          <p:cNvSpPr/>
          <p:nvPr/>
        </p:nvSpPr>
        <p:spPr>
          <a:xfrm flipH="false" flipV="false" rot="0">
            <a:off x="6499327" y="2868511"/>
            <a:ext cx="5289204" cy="2467566"/>
          </a:xfrm>
          <a:custGeom>
            <a:avLst/>
            <a:gdLst/>
            <a:ahLst/>
            <a:cxnLst/>
            <a:rect r="r" b="b" t="t" l="l"/>
            <a:pathLst>
              <a:path h="2467566" w="5289204">
                <a:moveTo>
                  <a:pt x="0" y="0"/>
                </a:moveTo>
                <a:lnTo>
                  <a:pt x="5289204" y="0"/>
                </a:lnTo>
                <a:lnTo>
                  <a:pt x="5289204" y="2467565"/>
                </a:lnTo>
                <a:lnTo>
                  <a:pt x="0" y="2467565"/>
                </a:lnTo>
                <a:lnTo>
                  <a:pt x="0" y="0"/>
                </a:lnTo>
                <a:close/>
              </a:path>
            </a:pathLst>
          </a:custGeom>
          <a:blipFill>
            <a:blip r:embed="rId4">
              <a:extLst>
                <a:ext uri="{96DAC541-7B7A-43D3-8B79-37D633B846F1}">
                  <asvg:svgBlip xmlns:asvg="http://schemas.microsoft.com/office/drawing/2016/SVG/main" r:embed="rId5"/>
                </a:ext>
              </a:extLst>
            </a:blip>
            <a:stretch>
              <a:fillRect l="0" t="-117" r="0" b="-117"/>
            </a:stretch>
          </a:blipFill>
        </p:spPr>
      </p:sp>
      <p:sp>
        <p:nvSpPr>
          <p:cNvPr name="TextBox 15" id="15"/>
          <p:cNvSpPr txBox="true"/>
          <p:nvPr/>
        </p:nvSpPr>
        <p:spPr>
          <a:xfrm rot="0">
            <a:off x="6874669" y="3120038"/>
            <a:ext cx="4652810" cy="382343"/>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Competitor Analysis Output</a:t>
            </a:r>
          </a:p>
        </p:txBody>
      </p:sp>
      <p:sp>
        <p:nvSpPr>
          <p:cNvPr name="TextBox 16" id="16"/>
          <p:cNvSpPr txBox="true"/>
          <p:nvPr/>
        </p:nvSpPr>
        <p:spPr>
          <a:xfrm rot="0">
            <a:off x="6874669" y="3556987"/>
            <a:ext cx="4652810" cy="1518047"/>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Compared 4 competing products across 12 feature dimensions. Gap identified: no competitor offers AI-assisted onboarding workflows.</a:t>
            </a:r>
          </a:p>
        </p:txBody>
      </p:sp>
      <p:sp>
        <p:nvSpPr>
          <p:cNvPr name="Freeform 17" id="17" descr="preencoded.png"/>
          <p:cNvSpPr/>
          <p:nvPr/>
        </p:nvSpPr>
        <p:spPr>
          <a:xfrm flipH="false" flipV="false" rot="0">
            <a:off x="12006558" y="2868511"/>
            <a:ext cx="5289204" cy="2467566"/>
          </a:xfrm>
          <a:custGeom>
            <a:avLst/>
            <a:gdLst/>
            <a:ahLst/>
            <a:cxnLst/>
            <a:rect r="r" b="b" t="t" l="l"/>
            <a:pathLst>
              <a:path h="2467566" w="5289204">
                <a:moveTo>
                  <a:pt x="0" y="0"/>
                </a:moveTo>
                <a:lnTo>
                  <a:pt x="5289204" y="0"/>
                </a:lnTo>
                <a:lnTo>
                  <a:pt x="5289204" y="2467565"/>
                </a:lnTo>
                <a:lnTo>
                  <a:pt x="0" y="2467565"/>
                </a:lnTo>
                <a:lnTo>
                  <a:pt x="0" y="0"/>
                </a:lnTo>
                <a:close/>
              </a:path>
            </a:pathLst>
          </a:custGeom>
          <a:blipFill>
            <a:blip r:embed="rId4">
              <a:extLst>
                <a:ext uri="{96DAC541-7B7A-43D3-8B79-37D633B846F1}">
                  <asvg:svgBlip xmlns:asvg="http://schemas.microsoft.com/office/drawing/2016/SVG/main" r:embed="rId5"/>
                </a:ext>
              </a:extLst>
            </a:blip>
            <a:stretch>
              <a:fillRect l="0" t="-117" r="0" b="-117"/>
            </a:stretch>
          </a:blipFill>
        </p:spPr>
      </p:sp>
      <p:sp>
        <p:nvSpPr>
          <p:cNvPr name="TextBox 18" id="18"/>
          <p:cNvSpPr txBox="true"/>
          <p:nvPr/>
        </p:nvSpPr>
        <p:spPr>
          <a:xfrm rot="0">
            <a:off x="12381900" y="3120038"/>
            <a:ext cx="4652810" cy="382343"/>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Product Roadmap Output</a:t>
            </a:r>
          </a:p>
        </p:txBody>
      </p:sp>
      <p:sp>
        <p:nvSpPr>
          <p:cNvPr name="TextBox 19" id="19"/>
          <p:cNvSpPr txBox="true"/>
          <p:nvPr/>
        </p:nvSpPr>
        <p:spPr>
          <a:xfrm rot="0">
            <a:off x="12381900" y="3556987"/>
            <a:ext cx="4652810" cy="1518047"/>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Generated a 3-phase roadmap: Phase 1 (Core Onboarding), Phase 2 (AI Assistant), Phase 3 (Analytics Dashboard). Each phase includes success metrics.</a:t>
            </a:r>
          </a:p>
        </p:txBody>
      </p:sp>
      <p:sp>
        <p:nvSpPr>
          <p:cNvPr name="Freeform 20" id="20" descr="preencoded.png"/>
          <p:cNvSpPr/>
          <p:nvPr/>
        </p:nvSpPr>
        <p:spPr>
          <a:xfrm flipH="false" flipV="false" rot="0">
            <a:off x="992238" y="5554113"/>
            <a:ext cx="5289052" cy="2467566"/>
          </a:xfrm>
          <a:custGeom>
            <a:avLst/>
            <a:gdLst/>
            <a:ahLst/>
            <a:cxnLst/>
            <a:rect r="r" b="b" t="t" l="l"/>
            <a:pathLst>
              <a:path h="2467566" w="5289052">
                <a:moveTo>
                  <a:pt x="0" y="0"/>
                </a:moveTo>
                <a:lnTo>
                  <a:pt x="5289052" y="0"/>
                </a:lnTo>
                <a:lnTo>
                  <a:pt x="5289052" y="2467566"/>
                </a:lnTo>
                <a:lnTo>
                  <a:pt x="0" y="2467566"/>
                </a:lnTo>
                <a:lnTo>
                  <a:pt x="0" y="0"/>
                </a:lnTo>
                <a:close/>
              </a:path>
            </a:pathLst>
          </a:custGeom>
          <a:blipFill>
            <a:blip r:embed="rId4">
              <a:extLst>
                <a:ext uri="{96DAC541-7B7A-43D3-8B79-37D633B846F1}">
                  <asvg:svgBlip xmlns:asvg="http://schemas.microsoft.com/office/drawing/2016/SVG/main" r:embed="rId5"/>
                </a:ext>
              </a:extLst>
            </a:blip>
            <a:stretch>
              <a:fillRect l="0" t="-116" r="0" b="-116"/>
            </a:stretch>
          </a:blipFill>
        </p:spPr>
      </p:sp>
      <p:sp>
        <p:nvSpPr>
          <p:cNvPr name="TextBox 21" id="21"/>
          <p:cNvSpPr txBox="true"/>
          <p:nvPr/>
        </p:nvSpPr>
        <p:spPr>
          <a:xfrm rot="0">
            <a:off x="1367580" y="5805640"/>
            <a:ext cx="4652667" cy="382343"/>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PRD Output</a:t>
            </a:r>
          </a:p>
        </p:txBody>
      </p:sp>
      <p:sp>
        <p:nvSpPr>
          <p:cNvPr name="TextBox 22" id="22"/>
          <p:cNvSpPr txBox="true"/>
          <p:nvPr/>
        </p:nvSpPr>
        <p:spPr>
          <a:xfrm rot="0">
            <a:off x="1367580" y="6242599"/>
            <a:ext cx="4652667" cy="1518047"/>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Full PRD with problem statement, target users, user stories, acceptance criteria, and non-functional requirements — all Zod-validated.</a:t>
            </a:r>
          </a:p>
        </p:txBody>
      </p:sp>
      <p:sp>
        <p:nvSpPr>
          <p:cNvPr name="Freeform 23" id="23" descr="preencoded.png"/>
          <p:cNvSpPr/>
          <p:nvPr/>
        </p:nvSpPr>
        <p:spPr>
          <a:xfrm flipH="false" flipV="false" rot="0">
            <a:off x="6499327" y="5554113"/>
            <a:ext cx="5289204" cy="2467566"/>
          </a:xfrm>
          <a:custGeom>
            <a:avLst/>
            <a:gdLst/>
            <a:ahLst/>
            <a:cxnLst/>
            <a:rect r="r" b="b" t="t" l="l"/>
            <a:pathLst>
              <a:path h="2467566" w="5289204">
                <a:moveTo>
                  <a:pt x="0" y="0"/>
                </a:moveTo>
                <a:lnTo>
                  <a:pt x="5289204" y="0"/>
                </a:lnTo>
                <a:lnTo>
                  <a:pt x="5289204" y="2467566"/>
                </a:lnTo>
                <a:lnTo>
                  <a:pt x="0" y="2467566"/>
                </a:lnTo>
                <a:lnTo>
                  <a:pt x="0" y="0"/>
                </a:lnTo>
                <a:close/>
              </a:path>
            </a:pathLst>
          </a:custGeom>
          <a:blipFill>
            <a:blip r:embed="rId4">
              <a:extLst>
                <a:ext uri="{96DAC541-7B7A-43D3-8B79-37D633B846F1}">
                  <asvg:svgBlip xmlns:asvg="http://schemas.microsoft.com/office/drawing/2016/SVG/main" r:embed="rId5"/>
                </a:ext>
              </a:extLst>
            </a:blip>
            <a:stretch>
              <a:fillRect l="0" t="-117" r="0" b="-117"/>
            </a:stretch>
          </a:blipFill>
        </p:spPr>
      </p:sp>
      <p:sp>
        <p:nvSpPr>
          <p:cNvPr name="TextBox 24" id="24"/>
          <p:cNvSpPr txBox="true"/>
          <p:nvPr/>
        </p:nvSpPr>
        <p:spPr>
          <a:xfrm rot="0">
            <a:off x="6874669" y="5805640"/>
            <a:ext cx="4652810" cy="382343"/>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Sprint Plan Output</a:t>
            </a:r>
          </a:p>
        </p:txBody>
      </p:sp>
      <p:sp>
        <p:nvSpPr>
          <p:cNvPr name="TextBox 25" id="25"/>
          <p:cNvSpPr txBox="true"/>
          <p:nvPr/>
        </p:nvSpPr>
        <p:spPr>
          <a:xfrm rot="0">
            <a:off x="6874669" y="6242599"/>
            <a:ext cx="4652810" cy="1518047"/>
          </a:xfrm>
          <a:prstGeom prst="rect">
            <a:avLst/>
          </a:prstGeom>
        </p:spPr>
        <p:txBody>
          <a:bodyPr anchor="t" rtlCol="false" tIns="0" lIns="0" bIns="0" rIns="0">
            <a:spAutoFit/>
          </a:bodyPr>
          <a:lstStyle/>
          <a:p>
            <a:pPr algn="l">
              <a:lnSpc>
                <a:spcPts val="2786"/>
              </a:lnSpc>
            </a:pPr>
            <a:r>
              <a:rPr lang="en-US" sz="1800">
                <a:solidFill>
                  <a:srgbClr val="55575A"/>
                </a:solidFill>
                <a:latin typeface="Arimo"/>
                <a:ea typeface="Arimo"/>
                <a:cs typeface="Arimo"/>
                <a:sym typeface="Arimo"/>
              </a:rPr>
              <a:t>Sprint 1 backlog with 14 tasks, story point estimates, and owner assignments. Ready for direct import into Jira or GitHub Projects.</a:t>
            </a:r>
          </a:p>
        </p:txBody>
      </p:sp>
      <p:grpSp>
        <p:nvGrpSpPr>
          <p:cNvPr name="Group 26" id="26"/>
          <p:cNvGrpSpPr/>
          <p:nvPr/>
        </p:nvGrpSpPr>
        <p:grpSpPr>
          <a:xfrm rot="0">
            <a:off x="992238" y="8266957"/>
            <a:ext cx="16303523" cy="1251194"/>
            <a:chOff x="0" y="0"/>
            <a:chExt cx="21738031" cy="1668259"/>
          </a:xfrm>
        </p:grpSpPr>
        <p:sp>
          <p:nvSpPr>
            <p:cNvPr name="Freeform 27" id="27"/>
            <p:cNvSpPr/>
            <p:nvPr/>
          </p:nvSpPr>
          <p:spPr>
            <a:xfrm flipH="false" flipV="false" rot="0">
              <a:off x="0" y="0"/>
              <a:ext cx="21738081" cy="1668399"/>
            </a:xfrm>
            <a:custGeom>
              <a:avLst/>
              <a:gdLst/>
              <a:ahLst/>
              <a:cxnLst/>
              <a:rect r="r" b="b" t="t" l="l"/>
              <a:pathLst>
                <a:path h="1668399" w="21738081">
                  <a:moveTo>
                    <a:pt x="0" y="279146"/>
                  </a:moveTo>
                  <a:cubicBezTo>
                    <a:pt x="0" y="124968"/>
                    <a:pt x="124968" y="0"/>
                    <a:pt x="279146" y="0"/>
                  </a:cubicBezTo>
                  <a:lnTo>
                    <a:pt x="21458935" y="0"/>
                  </a:lnTo>
                  <a:cubicBezTo>
                    <a:pt x="21613113" y="0"/>
                    <a:pt x="21738081" y="124968"/>
                    <a:pt x="21738081" y="279146"/>
                  </a:cubicBezTo>
                  <a:lnTo>
                    <a:pt x="21738081" y="1389253"/>
                  </a:lnTo>
                  <a:cubicBezTo>
                    <a:pt x="21738081" y="1543431"/>
                    <a:pt x="21613113" y="1668399"/>
                    <a:pt x="21458935" y="1668399"/>
                  </a:cubicBezTo>
                  <a:lnTo>
                    <a:pt x="279146" y="1668399"/>
                  </a:lnTo>
                  <a:cubicBezTo>
                    <a:pt x="124968" y="1668272"/>
                    <a:pt x="0" y="1543304"/>
                    <a:pt x="0" y="1389126"/>
                  </a:cubicBezTo>
                  <a:close/>
                </a:path>
              </a:pathLst>
            </a:custGeom>
            <a:solidFill>
              <a:srgbClr val="FFD7CC"/>
            </a:solidFill>
          </p:spPr>
        </p:sp>
      </p:grpSp>
      <p:grpSp>
        <p:nvGrpSpPr>
          <p:cNvPr name="Group 28" id="28"/>
          <p:cNvGrpSpPr/>
          <p:nvPr/>
        </p:nvGrpSpPr>
        <p:grpSpPr>
          <a:xfrm rot="0">
            <a:off x="1224705" y="8592150"/>
            <a:ext cx="290665" cy="232467"/>
            <a:chOff x="0" y="0"/>
            <a:chExt cx="387553" cy="309956"/>
          </a:xfrm>
        </p:grpSpPr>
        <p:sp>
          <p:nvSpPr>
            <p:cNvPr name="Freeform 29" id="29" descr="preencoded.png"/>
            <p:cNvSpPr/>
            <p:nvPr/>
          </p:nvSpPr>
          <p:spPr>
            <a:xfrm flipH="false" flipV="false" rot="0">
              <a:off x="0" y="0"/>
              <a:ext cx="387604" cy="310007"/>
            </a:xfrm>
            <a:custGeom>
              <a:avLst/>
              <a:gdLst/>
              <a:ahLst/>
              <a:cxnLst/>
              <a:rect r="r" b="b" t="t" l="l"/>
              <a:pathLst>
                <a:path h="310007" w="387604">
                  <a:moveTo>
                    <a:pt x="0" y="0"/>
                  </a:moveTo>
                  <a:lnTo>
                    <a:pt x="387604" y="0"/>
                  </a:lnTo>
                  <a:lnTo>
                    <a:pt x="387604" y="310007"/>
                  </a:lnTo>
                  <a:lnTo>
                    <a:pt x="0" y="310007"/>
                  </a:lnTo>
                  <a:lnTo>
                    <a:pt x="0" y="0"/>
                  </a:lnTo>
                  <a:close/>
                </a:path>
              </a:pathLst>
            </a:custGeom>
            <a:blipFill>
              <a:blip r:embed="rId6"/>
              <a:stretch>
                <a:fillRect l="0" t="-417" r="13" b="-397"/>
              </a:stretch>
            </a:blipFill>
          </p:spPr>
        </p:sp>
      </p:grpSp>
      <p:sp>
        <p:nvSpPr>
          <p:cNvPr name="TextBox 30" id="30"/>
          <p:cNvSpPr txBox="true"/>
          <p:nvPr/>
        </p:nvSpPr>
        <p:spPr>
          <a:xfrm rot="0">
            <a:off x="1747838" y="8466830"/>
            <a:ext cx="15315457" cy="797128"/>
          </a:xfrm>
          <a:prstGeom prst="rect">
            <a:avLst/>
          </a:prstGeom>
        </p:spPr>
        <p:txBody>
          <a:bodyPr anchor="t" rtlCol="false" tIns="0" lIns="0" bIns="0" rIns="0">
            <a:spAutoFit/>
          </a:bodyPr>
          <a:lstStyle/>
          <a:p>
            <a:pPr algn="l">
              <a:lnSpc>
                <a:spcPts val="2786"/>
              </a:lnSpc>
            </a:pPr>
            <a:r>
              <a:rPr lang="en-US" sz="1800" b="true">
                <a:solidFill>
                  <a:srgbClr val="000000"/>
                </a:solidFill>
                <a:latin typeface="Arimo Bold"/>
                <a:ea typeface="Arimo Bold"/>
                <a:cs typeface="Arimo Bold"/>
                <a:sym typeface="Arimo Bold"/>
              </a:rPr>
              <a:t>Speaker Notes:</a:t>
            </a:r>
            <a:r>
              <a:rPr lang="en-US" sz="1800">
                <a:solidFill>
                  <a:srgbClr val="000000"/>
                </a:solidFill>
                <a:latin typeface="Arimo"/>
                <a:ea typeface="Arimo"/>
                <a:cs typeface="Arimo"/>
                <a:sym typeface="Arimo"/>
              </a:rPr>
              <a:t> These outputs demonstrate the end-to-end value of the system. Each artifact is structured, validated, and immediately actionable. In a live demo, these would be replaced with actual terminal or UI screenshots.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760809"/>
            <a:ext cx="2512219" cy="312096"/>
            <a:chOff x="0" y="0"/>
            <a:chExt cx="3349625" cy="416128"/>
          </a:xfrm>
        </p:grpSpPr>
        <p:sp>
          <p:nvSpPr>
            <p:cNvPr name="Freeform 7" id="7"/>
            <p:cNvSpPr/>
            <p:nvPr/>
          </p:nvSpPr>
          <p:spPr>
            <a:xfrm flipH="false" flipV="false" rot="0">
              <a:off x="0" y="0"/>
              <a:ext cx="3349625" cy="416179"/>
            </a:xfrm>
            <a:custGeom>
              <a:avLst/>
              <a:gdLst/>
              <a:ahLst/>
              <a:cxnLst/>
              <a:rect r="r" b="b" t="t" l="l"/>
              <a:pathLst>
                <a:path h="416179" w="3349625">
                  <a:moveTo>
                    <a:pt x="0" y="197231"/>
                  </a:moveTo>
                  <a:cubicBezTo>
                    <a:pt x="0" y="88265"/>
                    <a:pt x="88265" y="0"/>
                    <a:pt x="197231" y="0"/>
                  </a:cubicBezTo>
                  <a:lnTo>
                    <a:pt x="3152394" y="0"/>
                  </a:lnTo>
                  <a:cubicBezTo>
                    <a:pt x="3261360" y="0"/>
                    <a:pt x="3349625" y="88265"/>
                    <a:pt x="3349625" y="197231"/>
                  </a:cubicBezTo>
                  <a:lnTo>
                    <a:pt x="3349625" y="218948"/>
                  </a:lnTo>
                  <a:cubicBezTo>
                    <a:pt x="3349625" y="327914"/>
                    <a:pt x="3261360" y="416179"/>
                    <a:pt x="3152394" y="416179"/>
                  </a:cubicBezTo>
                  <a:lnTo>
                    <a:pt x="197231" y="416179"/>
                  </a:lnTo>
                  <a:cubicBezTo>
                    <a:pt x="88265" y="416179"/>
                    <a:pt x="0" y="327787"/>
                    <a:pt x="0" y="218948"/>
                  </a:cubicBezTo>
                  <a:close/>
                </a:path>
              </a:pathLst>
            </a:custGeom>
            <a:solidFill>
              <a:srgbClr val="FFD7CC"/>
            </a:solidFill>
          </p:spPr>
        </p:sp>
      </p:grpSp>
      <p:sp>
        <p:nvSpPr>
          <p:cNvPr name="TextBox 8" id="8"/>
          <p:cNvSpPr txBox="true"/>
          <p:nvPr/>
        </p:nvSpPr>
        <p:spPr>
          <a:xfrm rot="0">
            <a:off x="1115463" y="812902"/>
            <a:ext cx="3180159" cy="198387"/>
          </a:xfrm>
          <a:prstGeom prst="rect">
            <a:avLst/>
          </a:prstGeom>
        </p:spPr>
        <p:txBody>
          <a:bodyPr anchor="t" rtlCol="false" tIns="0" lIns="0" bIns="0" rIns="0">
            <a:spAutoFit/>
          </a:bodyPr>
          <a:lstStyle/>
          <a:p>
            <a:pPr algn="l">
              <a:lnSpc>
                <a:spcPts val="1382"/>
              </a:lnSpc>
            </a:pPr>
            <a:r>
              <a:rPr lang="en-US" sz="1200">
                <a:solidFill>
                  <a:srgbClr val="55575A"/>
                </a:solidFill>
                <a:latin typeface="Arimo"/>
                <a:ea typeface="Arimo"/>
                <a:cs typeface="Arimo"/>
                <a:sym typeface="Arimo"/>
              </a:rPr>
              <a:t>RESULTS &amp; FUTURE ROADMAP</a:t>
            </a:r>
          </a:p>
        </p:txBody>
      </p:sp>
      <p:sp>
        <p:nvSpPr>
          <p:cNvPr name="TextBox 9" id="9"/>
          <p:cNvSpPr txBox="true"/>
          <p:nvPr/>
        </p:nvSpPr>
        <p:spPr>
          <a:xfrm rot="0">
            <a:off x="992238" y="1121864"/>
            <a:ext cx="16303523" cy="660949"/>
          </a:xfrm>
          <a:prstGeom prst="rect">
            <a:avLst/>
          </a:prstGeom>
        </p:spPr>
        <p:txBody>
          <a:bodyPr anchor="t" rtlCol="false" tIns="0" lIns="0" bIns="0" rIns="0">
            <a:spAutoFit/>
          </a:bodyPr>
          <a:lstStyle/>
          <a:p>
            <a:pPr algn="l">
              <a:lnSpc>
                <a:spcPts val="4992"/>
              </a:lnSpc>
            </a:pPr>
            <a:r>
              <a:rPr lang="en-US" sz="4000">
                <a:solidFill>
                  <a:srgbClr val="0C0D0F"/>
                </a:solidFill>
                <a:latin typeface="Inter"/>
                <a:ea typeface="Inter"/>
                <a:cs typeface="Inter"/>
                <a:sym typeface="Inter"/>
              </a:rPr>
              <a:t>Results Achieved &amp; What's Next</a:t>
            </a:r>
          </a:p>
        </p:txBody>
      </p:sp>
      <p:sp>
        <p:nvSpPr>
          <p:cNvPr name="TextBox 10" id="10"/>
          <p:cNvSpPr txBox="true"/>
          <p:nvPr/>
        </p:nvSpPr>
        <p:spPr>
          <a:xfrm rot="0">
            <a:off x="992238" y="2198484"/>
            <a:ext cx="7901140" cy="340071"/>
          </a:xfrm>
          <a:prstGeom prst="rect">
            <a:avLst/>
          </a:prstGeom>
        </p:spPr>
        <p:txBody>
          <a:bodyPr anchor="t" rtlCol="false" tIns="0" lIns="0" bIns="0" rIns="0">
            <a:spAutoFit/>
          </a:bodyPr>
          <a:lstStyle/>
          <a:p>
            <a:pPr algn="l">
              <a:lnSpc>
                <a:spcPts val="2496"/>
              </a:lnSpc>
            </a:pPr>
            <a:r>
              <a:rPr lang="en-US" sz="2000">
                <a:solidFill>
                  <a:srgbClr val="000000"/>
                </a:solidFill>
                <a:latin typeface="Inter"/>
                <a:ea typeface="Inter"/>
                <a:cs typeface="Inter"/>
                <a:sym typeface="Inter"/>
              </a:rPr>
              <a:t>✅</a:t>
            </a:r>
            <a:r>
              <a:rPr lang="en-US" sz="2000">
                <a:solidFill>
                  <a:srgbClr val="0C0D0F"/>
                </a:solidFill>
                <a:latin typeface="Inter"/>
                <a:ea typeface="Inter"/>
                <a:cs typeface="Inter"/>
                <a:sym typeface="Inter"/>
              </a:rPr>
              <a:t> Key Results</a:t>
            </a:r>
          </a:p>
        </p:txBody>
      </p:sp>
      <p:grpSp>
        <p:nvGrpSpPr>
          <p:cNvPr name="Group 11" id="11"/>
          <p:cNvGrpSpPr/>
          <p:nvPr/>
        </p:nvGrpSpPr>
        <p:grpSpPr>
          <a:xfrm rot="0">
            <a:off x="987476" y="2725188"/>
            <a:ext cx="3875037" cy="2617889"/>
            <a:chOff x="0" y="0"/>
            <a:chExt cx="5166716" cy="3490519"/>
          </a:xfrm>
        </p:grpSpPr>
        <p:sp>
          <p:nvSpPr>
            <p:cNvPr name="Freeform 12" id="12"/>
            <p:cNvSpPr/>
            <p:nvPr/>
          </p:nvSpPr>
          <p:spPr>
            <a:xfrm flipH="false" flipV="false" rot="0">
              <a:off x="0" y="0"/>
              <a:ext cx="5166614" cy="3490468"/>
            </a:xfrm>
            <a:custGeom>
              <a:avLst/>
              <a:gdLst/>
              <a:ahLst/>
              <a:cxnLst/>
              <a:rect r="r" b="b" t="t" l="l"/>
              <a:pathLst>
                <a:path h="3490468" w="5166614">
                  <a:moveTo>
                    <a:pt x="0" y="247396"/>
                  </a:moveTo>
                  <a:cubicBezTo>
                    <a:pt x="0" y="110744"/>
                    <a:pt x="110744" y="0"/>
                    <a:pt x="247396" y="0"/>
                  </a:cubicBezTo>
                  <a:lnTo>
                    <a:pt x="4919218" y="0"/>
                  </a:lnTo>
                  <a:cubicBezTo>
                    <a:pt x="5055870" y="0"/>
                    <a:pt x="5166614" y="110744"/>
                    <a:pt x="5166614" y="247396"/>
                  </a:cubicBezTo>
                  <a:lnTo>
                    <a:pt x="5166614" y="3243072"/>
                  </a:lnTo>
                  <a:cubicBezTo>
                    <a:pt x="5166614" y="3379724"/>
                    <a:pt x="5055870" y="3490468"/>
                    <a:pt x="4919218" y="3490468"/>
                  </a:cubicBezTo>
                  <a:lnTo>
                    <a:pt x="247396" y="3490468"/>
                  </a:lnTo>
                  <a:cubicBezTo>
                    <a:pt x="110744" y="3490468"/>
                    <a:pt x="0" y="3379724"/>
                    <a:pt x="0" y="3243072"/>
                  </a:cubicBezTo>
                  <a:close/>
                </a:path>
              </a:pathLst>
            </a:custGeom>
            <a:solidFill>
              <a:srgbClr val="FFFFFF"/>
            </a:solidFill>
            <a:ln w="9526" cap="sq">
              <a:solidFill>
                <a:srgbClr val="FF7047"/>
              </a:solidFill>
              <a:prstDash val="solid"/>
              <a:miter/>
            </a:ln>
          </p:spPr>
        </p:sp>
      </p:grpSp>
      <p:grpSp>
        <p:nvGrpSpPr>
          <p:cNvPr name="Group 13" id="13"/>
          <p:cNvGrpSpPr/>
          <p:nvPr/>
        </p:nvGrpSpPr>
        <p:grpSpPr>
          <a:xfrm rot="0">
            <a:off x="1207141" y="2944863"/>
            <a:ext cx="616296" cy="616296"/>
            <a:chOff x="0" y="0"/>
            <a:chExt cx="821728" cy="821728"/>
          </a:xfrm>
        </p:grpSpPr>
        <p:sp>
          <p:nvSpPr>
            <p:cNvPr name="Freeform 14" id="14"/>
            <p:cNvSpPr/>
            <p:nvPr/>
          </p:nvSpPr>
          <p:spPr>
            <a:xfrm flipH="false" flipV="false" rot="0">
              <a:off x="0" y="0"/>
              <a:ext cx="821690" cy="821690"/>
            </a:xfrm>
            <a:custGeom>
              <a:avLst/>
              <a:gdLst/>
              <a:ahLst/>
              <a:cxnLst/>
              <a:rect r="r" b="b" t="t" l="l"/>
              <a:pathLst>
                <a:path h="821690" w="821690">
                  <a:moveTo>
                    <a:pt x="0" y="410845"/>
                  </a:moveTo>
                  <a:cubicBezTo>
                    <a:pt x="0" y="183896"/>
                    <a:pt x="183896" y="0"/>
                    <a:pt x="410845" y="0"/>
                  </a:cubicBezTo>
                  <a:cubicBezTo>
                    <a:pt x="637794" y="0"/>
                    <a:pt x="821690" y="183896"/>
                    <a:pt x="821690" y="410845"/>
                  </a:cubicBezTo>
                  <a:cubicBezTo>
                    <a:pt x="821690" y="637794"/>
                    <a:pt x="637794" y="821690"/>
                    <a:pt x="410845" y="821690"/>
                  </a:cubicBezTo>
                  <a:cubicBezTo>
                    <a:pt x="183896" y="821690"/>
                    <a:pt x="0" y="637794"/>
                    <a:pt x="0" y="410845"/>
                  </a:cubicBezTo>
                  <a:close/>
                </a:path>
              </a:pathLst>
            </a:custGeom>
            <a:solidFill>
              <a:srgbClr val="FF7047"/>
            </a:solidFill>
          </p:spPr>
        </p:sp>
      </p:grpSp>
      <p:sp>
        <p:nvSpPr>
          <p:cNvPr name="Freeform 15" id="15" descr="preencoded.png"/>
          <p:cNvSpPr/>
          <p:nvPr/>
        </p:nvSpPr>
        <p:spPr>
          <a:xfrm flipH="false" flipV="false" rot="0">
            <a:off x="1376658" y="3114380"/>
            <a:ext cx="277263" cy="277263"/>
          </a:xfrm>
          <a:custGeom>
            <a:avLst/>
            <a:gdLst/>
            <a:ahLst/>
            <a:cxnLst/>
            <a:rect r="r" b="b" t="t" l="l"/>
            <a:pathLst>
              <a:path h="277263" w="277263">
                <a:moveTo>
                  <a:pt x="0" y="0"/>
                </a:moveTo>
                <a:lnTo>
                  <a:pt x="277263" y="0"/>
                </a:lnTo>
                <a:lnTo>
                  <a:pt x="277263" y="277263"/>
                </a:lnTo>
                <a:lnTo>
                  <a:pt x="0" y="2772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207141" y="3721741"/>
            <a:ext cx="3435696" cy="330546"/>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Automated Planning</a:t>
            </a:r>
          </a:p>
        </p:txBody>
      </p:sp>
      <p:sp>
        <p:nvSpPr>
          <p:cNvPr name="TextBox 17" id="17"/>
          <p:cNvSpPr txBox="true"/>
          <p:nvPr/>
        </p:nvSpPr>
        <p:spPr>
          <a:xfrm rot="0">
            <a:off x="1207141" y="4165254"/>
            <a:ext cx="3435696" cy="657816"/>
          </a:xfrm>
          <a:prstGeom prst="rect">
            <a:avLst/>
          </a:prstGeom>
        </p:spPr>
        <p:txBody>
          <a:bodyPr anchor="t" rtlCol="false" tIns="0" lIns="0" bIns="0" rIns="0">
            <a:spAutoFit/>
          </a:bodyPr>
          <a:lstStyle/>
          <a:p>
            <a:pPr algn="l">
              <a:lnSpc>
                <a:spcPts val="2342"/>
              </a:lnSpc>
            </a:pPr>
            <a:r>
              <a:rPr lang="en-US" sz="1600">
                <a:solidFill>
                  <a:srgbClr val="55575A"/>
                </a:solidFill>
                <a:latin typeface="Arimo"/>
                <a:ea typeface="Arimo"/>
                <a:cs typeface="Arimo"/>
                <a:sym typeface="Arimo"/>
              </a:rPr>
              <a:t>Full pipeline from idea to sprint plan with minimal manual intervention.</a:t>
            </a:r>
          </a:p>
        </p:txBody>
      </p:sp>
      <p:grpSp>
        <p:nvGrpSpPr>
          <p:cNvPr name="Group 18" id="18"/>
          <p:cNvGrpSpPr/>
          <p:nvPr/>
        </p:nvGrpSpPr>
        <p:grpSpPr>
          <a:xfrm rot="0">
            <a:off x="5023094" y="2725188"/>
            <a:ext cx="3875037" cy="2617889"/>
            <a:chOff x="0" y="0"/>
            <a:chExt cx="5166716" cy="3490519"/>
          </a:xfrm>
        </p:grpSpPr>
        <p:sp>
          <p:nvSpPr>
            <p:cNvPr name="Freeform 19" id="19"/>
            <p:cNvSpPr/>
            <p:nvPr/>
          </p:nvSpPr>
          <p:spPr>
            <a:xfrm flipH="false" flipV="false" rot="0">
              <a:off x="0" y="0"/>
              <a:ext cx="5166614" cy="3490468"/>
            </a:xfrm>
            <a:custGeom>
              <a:avLst/>
              <a:gdLst/>
              <a:ahLst/>
              <a:cxnLst/>
              <a:rect r="r" b="b" t="t" l="l"/>
              <a:pathLst>
                <a:path h="3490468" w="5166614">
                  <a:moveTo>
                    <a:pt x="0" y="247396"/>
                  </a:moveTo>
                  <a:cubicBezTo>
                    <a:pt x="0" y="110744"/>
                    <a:pt x="110744" y="0"/>
                    <a:pt x="247396" y="0"/>
                  </a:cubicBezTo>
                  <a:lnTo>
                    <a:pt x="4919218" y="0"/>
                  </a:lnTo>
                  <a:cubicBezTo>
                    <a:pt x="5055870" y="0"/>
                    <a:pt x="5166614" y="110744"/>
                    <a:pt x="5166614" y="247396"/>
                  </a:cubicBezTo>
                  <a:lnTo>
                    <a:pt x="5166614" y="3243072"/>
                  </a:lnTo>
                  <a:cubicBezTo>
                    <a:pt x="5166614" y="3379724"/>
                    <a:pt x="5055870" y="3490468"/>
                    <a:pt x="4919218" y="3490468"/>
                  </a:cubicBezTo>
                  <a:lnTo>
                    <a:pt x="247396" y="3490468"/>
                  </a:lnTo>
                  <a:cubicBezTo>
                    <a:pt x="110744" y="3490468"/>
                    <a:pt x="0" y="3379724"/>
                    <a:pt x="0" y="3243072"/>
                  </a:cubicBezTo>
                  <a:close/>
                </a:path>
              </a:pathLst>
            </a:custGeom>
            <a:solidFill>
              <a:srgbClr val="FFFFFF"/>
            </a:solidFill>
            <a:ln w="9526" cap="sq">
              <a:solidFill>
                <a:srgbClr val="FF7047"/>
              </a:solidFill>
              <a:prstDash val="solid"/>
              <a:miter/>
            </a:ln>
          </p:spPr>
        </p:sp>
      </p:grpSp>
      <p:grpSp>
        <p:nvGrpSpPr>
          <p:cNvPr name="Group 20" id="20"/>
          <p:cNvGrpSpPr/>
          <p:nvPr/>
        </p:nvGrpSpPr>
        <p:grpSpPr>
          <a:xfrm rot="0">
            <a:off x="5242770" y="2944863"/>
            <a:ext cx="616296" cy="616296"/>
            <a:chOff x="0" y="0"/>
            <a:chExt cx="821728" cy="821728"/>
          </a:xfrm>
        </p:grpSpPr>
        <p:sp>
          <p:nvSpPr>
            <p:cNvPr name="Freeform 21" id="21"/>
            <p:cNvSpPr/>
            <p:nvPr/>
          </p:nvSpPr>
          <p:spPr>
            <a:xfrm flipH="false" flipV="false" rot="0">
              <a:off x="0" y="0"/>
              <a:ext cx="821690" cy="821690"/>
            </a:xfrm>
            <a:custGeom>
              <a:avLst/>
              <a:gdLst/>
              <a:ahLst/>
              <a:cxnLst/>
              <a:rect r="r" b="b" t="t" l="l"/>
              <a:pathLst>
                <a:path h="821690" w="821690">
                  <a:moveTo>
                    <a:pt x="0" y="410845"/>
                  </a:moveTo>
                  <a:cubicBezTo>
                    <a:pt x="0" y="183896"/>
                    <a:pt x="183896" y="0"/>
                    <a:pt x="410845" y="0"/>
                  </a:cubicBezTo>
                  <a:cubicBezTo>
                    <a:pt x="637794" y="0"/>
                    <a:pt x="821690" y="183896"/>
                    <a:pt x="821690" y="410845"/>
                  </a:cubicBezTo>
                  <a:cubicBezTo>
                    <a:pt x="821690" y="637794"/>
                    <a:pt x="637794" y="821690"/>
                    <a:pt x="410845" y="821690"/>
                  </a:cubicBezTo>
                  <a:cubicBezTo>
                    <a:pt x="183896" y="821690"/>
                    <a:pt x="0" y="637794"/>
                    <a:pt x="0" y="410845"/>
                  </a:cubicBezTo>
                  <a:close/>
                </a:path>
              </a:pathLst>
            </a:custGeom>
            <a:solidFill>
              <a:srgbClr val="FF7047"/>
            </a:solidFill>
          </p:spPr>
        </p:sp>
      </p:grpSp>
      <p:sp>
        <p:nvSpPr>
          <p:cNvPr name="Freeform 22" id="22" descr="preencoded.png"/>
          <p:cNvSpPr/>
          <p:nvPr/>
        </p:nvSpPr>
        <p:spPr>
          <a:xfrm flipH="false" flipV="false" rot="0">
            <a:off x="5412286" y="3114380"/>
            <a:ext cx="277263" cy="277263"/>
          </a:xfrm>
          <a:custGeom>
            <a:avLst/>
            <a:gdLst/>
            <a:ahLst/>
            <a:cxnLst/>
            <a:rect r="r" b="b" t="t" l="l"/>
            <a:pathLst>
              <a:path h="277263" w="277263">
                <a:moveTo>
                  <a:pt x="0" y="0"/>
                </a:moveTo>
                <a:lnTo>
                  <a:pt x="277263" y="0"/>
                </a:lnTo>
                <a:lnTo>
                  <a:pt x="277263" y="277263"/>
                </a:lnTo>
                <a:lnTo>
                  <a:pt x="0" y="277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5242770" y="3721741"/>
            <a:ext cx="3435696" cy="330546"/>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Better Prioritization</a:t>
            </a:r>
          </a:p>
        </p:txBody>
      </p:sp>
      <p:sp>
        <p:nvSpPr>
          <p:cNvPr name="TextBox 24" id="24"/>
          <p:cNvSpPr txBox="true"/>
          <p:nvPr/>
        </p:nvSpPr>
        <p:spPr>
          <a:xfrm rot="0">
            <a:off x="5242770" y="4165254"/>
            <a:ext cx="3435696" cy="958158"/>
          </a:xfrm>
          <a:prstGeom prst="rect">
            <a:avLst/>
          </a:prstGeom>
        </p:spPr>
        <p:txBody>
          <a:bodyPr anchor="t" rtlCol="false" tIns="0" lIns="0" bIns="0" rIns="0">
            <a:spAutoFit/>
          </a:bodyPr>
          <a:lstStyle/>
          <a:p>
            <a:pPr algn="l">
              <a:lnSpc>
                <a:spcPts val="2342"/>
              </a:lnSpc>
            </a:pPr>
            <a:r>
              <a:rPr lang="en-US" sz="1600">
                <a:solidFill>
                  <a:srgbClr val="55575A"/>
                </a:solidFill>
                <a:latin typeface="Arimo"/>
                <a:ea typeface="Arimo"/>
                <a:cs typeface="Arimo"/>
                <a:sym typeface="Arimo"/>
              </a:rPr>
              <a:t>Data-driven feature ranking replaces guesswork with structured scoring.</a:t>
            </a:r>
          </a:p>
        </p:txBody>
      </p:sp>
      <p:grpSp>
        <p:nvGrpSpPr>
          <p:cNvPr name="Group 25" id="25"/>
          <p:cNvGrpSpPr/>
          <p:nvPr/>
        </p:nvGrpSpPr>
        <p:grpSpPr>
          <a:xfrm rot="0">
            <a:off x="987476" y="5503659"/>
            <a:ext cx="3875037" cy="2617889"/>
            <a:chOff x="0" y="0"/>
            <a:chExt cx="5166716" cy="3490519"/>
          </a:xfrm>
        </p:grpSpPr>
        <p:sp>
          <p:nvSpPr>
            <p:cNvPr name="Freeform 26" id="26"/>
            <p:cNvSpPr/>
            <p:nvPr/>
          </p:nvSpPr>
          <p:spPr>
            <a:xfrm flipH="false" flipV="false" rot="0">
              <a:off x="0" y="0"/>
              <a:ext cx="5166614" cy="3490468"/>
            </a:xfrm>
            <a:custGeom>
              <a:avLst/>
              <a:gdLst/>
              <a:ahLst/>
              <a:cxnLst/>
              <a:rect r="r" b="b" t="t" l="l"/>
              <a:pathLst>
                <a:path h="3490468" w="5166614">
                  <a:moveTo>
                    <a:pt x="0" y="247396"/>
                  </a:moveTo>
                  <a:cubicBezTo>
                    <a:pt x="0" y="110744"/>
                    <a:pt x="110744" y="0"/>
                    <a:pt x="247396" y="0"/>
                  </a:cubicBezTo>
                  <a:lnTo>
                    <a:pt x="4919218" y="0"/>
                  </a:lnTo>
                  <a:cubicBezTo>
                    <a:pt x="5055870" y="0"/>
                    <a:pt x="5166614" y="110744"/>
                    <a:pt x="5166614" y="247396"/>
                  </a:cubicBezTo>
                  <a:lnTo>
                    <a:pt x="5166614" y="3243072"/>
                  </a:lnTo>
                  <a:cubicBezTo>
                    <a:pt x="5166614" y="3379724"/>
                    <a:pt x="5055870" y="3490468"/>
                    <a:pt x="4919218" y="3490468"/>
                  </a:cubicBezTo>
                  <a:lnTo>
                    <a:pt x="247396" y="3490468"/>
                  </a:lnTo>
                  <a:cubicBezTo>
                    <a:pt x="110744" y="3490468"/>
                    <a:pt x="0" y="3379724"/>
                    <a:pt x="0" y="3243072"/>
                  </a:cubicBezTo>
                  <a:close/>
                </a:path>
              </a:pathLst>
            </a:custGeom>
            <a:solidFill>
              <a:srgbClr val="FFFFFF"/>
            </a:solidFill>
            <a:ln w="9526" cap="sq">
              <a:solidFill>
                <a:srgbClr val="FF7047"/>
              </a:solidFill>
              <a:prstDash val="solid"/>
              <a:miter/>
            </a:ln>
          </p:spPr>
        </p:sp>
      </p:grpSp>
      <p:grpSp>
        <p:nvGrpSpPr>
          <p:cNvPr name="Group 27" id="27"/>
          <p:cNvGrpSpPr/>
          <p:nvPr/>
        </p:nvGrpSpPr>
        <p:grpSpPr>
          <a:xfrm rot="0">
            <a:off x="1207141" y="5723334"/>
            <a:ext cx="616296" cy="616296"/>
            <a:chOff x="0" y="0"/>
            <a:chExt cx="821728" cy="821728"/>
          </a:xfrm>
        </p:grpSpPr>
        <p:sp>
          <p:nvSpPr>
            <p:cNvPr name="Freeform 28" id="28"/>
            <p:cNvSpPr/>
            <p:nvPr/>
          </p:nvSpPr>
          <p:spPr>
            <a:xfrm flipH="false" flipV="false" rot="0">
              <a:off x="0" y="0"/>
              <a:ext cx="821690" cy="821690"/>
            </a:xfrm>
            <a:custGeom>
              <a:avLst/>
              <a:gdLst/>
              <a:ahLst/>
              <a:cxnLst/>
              <a:rect r="r" b="b" t="t" l="l"/>
              <a:pathLst>
                <a:path h="821690" w="821690">
                  <a:moveTo>
                    <a:pt x="0" y="410845"/>
                  </a:moveTo>
                  <a:cubicBezTo>
                    <a:pt x="0" y="183896"/>
                    <a:pt x="183896" y="0"/>
                    <a:pt x="410845" y="0"/>
                  </a:cubicBezTo>
                  <a:cubicBezTo>
                    <a:pt x="637794" y="0"/>
                    <a:pt x="821690" y="183896"/>
                    <a:pt x="821690" y="410845"/>
                  </a:cubicBezTo>
                  <a:cubicBezTo>
                    <a:pt x="821690" y="637794"/>
                    <a:pt x="637794" y="821690"/>
                    <a:pt x="410845" y="821690"/>
                  </a:cubicBezTo>
                  <a:cubicBezTo>
                    <a:pt x="183896" y="821690"/>
                    <a:pt x="0" y="637794"/>
                    <a:pt x="0" y="410845"/>
                  </a:cubicBezTo>
                  <a:close/>
                </a:path>
              </a:pathLst>
            </a:custGeom>
            <a:solidFill>
              <a:srgbClr val="FF7047"/>
            </a:solidFill>
          </p:spPr>
        </p:sp>
      </p:grpSp>
      <p:sp>
        <p:nvSpPr>
          <p:cNvPr name="Freeform 29" id="29" descr="preencoded.png"/>
          <p:cNvSpPr/>
          <p:nvPr/>
        </p:nvSpPr>
        <p:spPr>
          <a:xfrm flipH="false" flipV="false" rot="0">
            <a:off x="1376658" y="5892851"/>
            <a:ext cx="277263" cy="277263"/>
          </a:xfrm>
          <a:custGeom>
            <a:avLst/>
            <a:gdLst/>
            <a:ahLst/>
            <a:cxnLst/>
            <a:rect r="r" b="b" t="t" l="l"/>
            <a:pathLst>
              <a:path h="277263" w="277263">
                <a:moveTo>
                  <a:pt x="0" y="0"/>
                </a:moveTo>
                <a:lnTo>
                  <a:pt x="277263" y="0"/>
                </a:lnTo>
                <a:lnTo>
                  <a:pt x="277263" y="277263"/>
                </a:lnTo>
                <a:lnTo>
                  <a:pt x="0" y="2772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0" id="30"/>
          <p:cNvSpPr txBox="true"/>
          <p:nvPr/>
        </p:nvSpPr>
        <p:spPr>
          <a:xfrm rot="0">
            <a:off x="1207141" y="6500212"/>
            <a:ext cx="3435696" cy="330546"/>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Reduced Manual Effort</a:t>
            </a:r>
          </a:p>
        </p:txBody>
      </p:sp>
      <p:sp>
        <p:nvSpPr>
          <p:cNvPr name="TextBox 31" id="31"/>
          <p:cNvSpPr txBox="true"/>
          <p:nvPr/>
        </p:nvSpPr>
        <p:spPr>
          <a:xfrm rot="0">
            <a:off x="1207141" y="6943725"/>
            <a:ext cx="3435696" cy="958158"/>
          </a:xfrm>
          <a:prstGeom prst="rect">
            <a:avLst/>
          </a:prstGeom>
        </p:spPr>
        <p:txBody>
          <a:bodyPr anchor="t" rtlCol="false" tIns="0" lIns="0" bIns="0" rIns="0">
            <a:spAutoFit/>
          </a:bodyPr>
          <a:lstStyle/>
          <a:p>
            <a:pPr algn="l">
              <a:lnSpc>
                <a:spcPts val="2342"/>
              </a:lnSpc>
            </a:pPr>
            <a:r>
              <a:rPr lang="en-US" sz="1600">
                <a:solidFill>
                  <a:srgbClr val="55575A"/>
                </a:solidFill>
                <a:latin typeface="Arimo"/>
                <a:ea typeface="Arimo"/>
                <a:cs typeface="Arimo"/>
                <a:sym typeface="Arimo"/>
              </a:rPr>
              <a:t>Hours of research and documentation condensed into minutes.</a:t>
            </a:r>
          </a:p>
        </p:txBody>
      </p:sp>
      <p:grpSp>
        <p:nvGrpSpPr>
          <p:cNvPr name="Group 32" id="32"/>
          <p:cNvGrpSpPr/>
          <p:nvPr/>
        </p:nvGrpSpPr>
        <p:grpSpPr>
          <a:xfrm rot="0">
            <a:off x="5023094" y="5503659"/>
            <a:ext cx="3875037" cy="2617889"/>
            <a:chOff x="0" y="0"/>
            <a:chExt cx="5166716" cy="3490519"/>
          </a:xfrm>
        </p:grpSpPr>
        <p:sp>
          <p:nvSpPr>
            <p:cNvPr name="Freeform 33" id="33"/>
            <p:cNvSpPr/>
            <p:nvPr/>
          </p:nvSpPr>
          <p:spPr>
            <a:xfrm flipH="false" flipV="false" rot="0">
              <a:off x="0" y="0"/>
              <a:ext cx="5166614" cy="3490468"/>
            </a:xfrm>
            <a:custGeom>
              <a:avLst/>
              <a:gdLst/>
              <a:ahLst/>
              <a:cxnLst/>
              <a:rect r="r" b="b" t="t" l="l"/>
              <a:pathLst>
                <a:path h="3490468" w="5166614">
                  <a:moveTo>
                    <a:pt x="0" y="247396"/>
                  </a:moveTo>
                  <a:cubicBezTo>
                    <a:pt x="0" y="110744"/>
                    <a:pt x="110744" y="0"/>
                    <a:pt x="247396" y="0"/>
                  </a:cubicBezTo>
                  <a:lnTo>
                    <a:pt x="4919218" y="0"/>
                  </a:lnTo>
                  <a:cubicBezTo>
                    <a:pt x="5055870" y="0"/>
                    <a:pt x="5166614" y="110744"/>
                    <a:pt x="5166614" y="247396"/>
                  </a:cubicBezTo>
                  <a:lnTo>
                    <a:pt x="5166614" y="3243072"/>
                  </a:lnTo>
                  <a:cubicBezTo>
                    <a:pt x="5166614" y="3379724"/>
                    <a:pt x="5055870" y="3490468"/>
                    <a:pt x="4919218" y="3490468"/>
                  </a:cubicBezTo>
                  <a:lnTo>
                    <a:pt x="247396" y="3490468"/>
                  </a:lnTo>
                  <a:cubicBezTo>
                    <a:pt x="110744" y="3490468"/>
                    <a:pt x="0" y="3379724"/>
                    <a:pt x="0" y="3243072"/>
                  </a:cubicBezTo>
                  <a:close/>
                </a:path>
              </a:pathLst>
            </a:custGeom>
            <a:solidFill>
              <a:srgbClr val="FFFFFF"/>
            </a:solidFill>
            <a:ln w="9526" cap="sq">
              <a:solidFill>
                <a:srgbClr val="FF7047"/>
              </a:solidFill>
              <a:prstDash val="solid"/>
              <a:miter/>
            </a:ln>
          </p:spPr>
        </p:sp>
      </p:grpSp>
      <p:grpSp>
        <p:nvGrpSpPr>
          <p:cNvPr name="Group 34" id="34"/>
          <p:cNvGrpSpPr/>
          <p:nvPr/>
        </p:nvGrpSpPr>
        <p:grpSpPr>
          <a:xfrm rot="0">
            <a:off x="5242770" y="5723334"/>
            <a:ext cx="616296" cy="616296"/>
            <a:chOff x="0" y="0"/>
            <a:chExt cx="821728" cy="821728"/>
          </a:xfrm>
        </p:grpSpPr>
        <p:sp>
          <p:nvSpPr>
            <p:cNvPr name="Freeform 35" id="35"/>
            <p:cNvSpPr/>
            <p:nvPr/>
          </p:nvSpPr>
          <p:spPr>
            <a:xfrm flipH="false" flipV="false" rot="0">
              <a:off x="0" y="0"/>
              <a:ext cx="821690" cy="821690"/>
            </a:xfrm>
            <a:custGeom>
              <a:avLst/>
              <a:gdLst/>
              <a:ahLst/>
              <a:cxnLst/>
              <a:rect r="r" b="b" t="t" l="l"/>
              <a:pathLst>
                <a:path h="821690" w="821690">
                  <a:moveTo>
                    <a:pt x="0" y="410845"/>
                  </a:moveTo>
                  <a:cubicBezTo>
                    <a:pt x="0" y="183896"/>
                    <a:pt x="183896" y="0"/>
                    <a:pt x="410845" y="0"/>
                  </a:cubicBezTo>
                  <a:cubicBezTo>
                    <a:pt x="637794" y="0"/>
                    <a:pt x="821690" y="183896"/>
                    <a:pt x="821690" y="410845"/>
                  </a:cubicBezTo>
                  <a:cubicBezTo>
                    <a:pt x="821690" y="637794"/>
                    <a:pt x="637794" y="821690"/>
                    <a:pt x="410845" y="821690"/>
                  </a:cubicBezTo>
                  <a:cubicBezTo>
                    <a:pt x="183896" y="821690"/>
                    <a:pt x="0" y="637794"/>
                    <a:pt x="0" y="410845"/>
                  </a:cubicBezTo>
                  <a:close/>
                </a:path>
              </a:pathLst>
            </a:custGeom>
            <a:solidFill>
              <a:srgbClr val="FF7047"/>
            </a:solidFill>
          </p:spPr>
        </p:sp>
      </p:grpSp>
      <p:sp>
        <p:nvSpPr>
          <p:cNvPr name="Freeform 36" id="36" descr="preencoded.png"/>
          <p:cNvSpPr/>
          <p:nvPr/>
        </p:nvSpPr>
        <p:spPr>
          <a:xfrm flipH="false" flipV="false" rot="0">
            <a:off x="5412286" y="5892851"/>
            <a:ext cx="277263" cy="277263"/>
          </a:xfrm>
          <a:custGeom>
            <a:avLst/>
            <a:gdLst/>
            <a:ahLst/>
            <a:cxnLst/>
            <a:rect r="r" b="b" t="t" l="l"/>
            <a:pathLst>
              <a:path h="277263" w="277263">
                <a:moveTo>
                  <a:pt x="0" y="0"/>
                </a:moveTo>
                <a:lnTo>
                  <a:pt x="277263" y="0"/>
                </a:lnTo>
                <a:lnTo>
                  <a:pt x="277263" y="277263"/>
                </a:lnTo>
                <a:lnTo>
                  <a:pt x="0" y="277263"/>
                </a:lnTo>
                <a:lnTo>
                  <a:pt x="0" y="0"/>
                </a:lnTo>
                <a:close/>
              </a:path>
            </a:pathLst>
          </a:custGeom>
          <a:blipFill>
            <a:blip r:embed="rId9">
              <a:extLst>
                <a:ext uri="{96DAC541-7B7A-43D3-8B79-37D633B846F1}">
                  <asvg:svgBlip xmlns:asvg="http://schemas.microsoft.com/office/drawing/2016/SVG/main" r:embed="rId10"/>
                </a:ext>
              </a:extLst>
            </a:blip>
            <a:stretch>
              <a:fillRect l="-1666" t="0" r="-1669" b="0"/>
            </a:stretch>
          </a:blipFill>
        </p:spPr>
      </p:sp>
      <p:sp>
        <p:nvSpPr>
          <p:cNvPr name="TextBox 37" id="37"/>
          <p:cNvSpPr txBox="true"/>
          <p:nvPr/>
        </p:nvSpPr>
        <p:spPr>
          <a:xfrm rot="0">
            <a:off x="5242770" y="6500212"/>
            <a:ext cx="3435696" cy="330546"/>
          </a:xfrm>
          <a:prstGeom prst="rect">
            <a:avLst/>
          </a:prstGeom>
        </p:spPr>
        <p:txBody>
          <a:bodyPr anchor="t" rtlCol="false" tIns="0" lIns="0" bIns="0" rIns="0">
            <a:spAutoFit/>
          </a:bodyPr>
          <a:lstStyle/>
          <a:p>
            <a:pPr algn="l">
              <a:lnSpc>
                <a:spcPts val="2496"/>
              </a:lnSpc>
            </a:pPr>
            <a:r>
              <a:rPr lang="en-US" sz="2000">
                <a:solidFill>
                  <a:srgbClr val="55575A"/>
                </a:solidFill>
                <a:latin typeface="Inter"/>
                <a:ea typeface="Inter"/>
                <a:cs typeface="Inter"/>
                <a:sym typeface="Inter"/>
              </a:rPr>
              <a:t>Human-in-the-Loop</a:t>
            </a:r>
          </a:p>
        </p:txBody>
      </p:sp>
      <p:sp>
        <p:nvSpPr>
          <p:cNvPr name="TextBox 38" id="38"/>
          <p:cNvSpPr txBox="true"/>
          <p:nvPr/>
        </p:nvSpPr>
        <p:spPr>
          <a:xfrm rot="0">
            <a:off x="5242770" y="6943725"/>
            <a:ext cx="3435696" cy="657816"/>
          </a:xfrm>
          <a:prstGeom prst="rect">
            <a:avLst/>
          </a:prstGeom>
        </p:spPr>
        <p:txBody>
          <a:bodyPr anchor="t" rtlCol="false" tIns="0" lIns="0" bIns="0" rIns="0">
            <a:spAutoFit/>
          </a:bodyPr>
          <a:lstStyle/>
          <a:p>
            <a:pPr algn="l">
              <a:lnSpc>
                <a:spcPts val="2342"/>
              </a:lnSpc>
            </a:pPr>
            <a:r>
              <a:rPr lang="en-US" sz="1600">
                <a:solidFill>
                  <a:srgbClr val="55575A"/>
                </a:solidFill>
                <a:latin typeface="Arimo"/>
                <a:ea typeface="Arimo"/>
                <a:cs typeface="Arimo"/>
                <a:sym typeface="Arimo"/>
              </a:rPr>
              <a:t>Strategic decisions require explicit human approval before execution.</a:t>
            </a:r>
          </a:p>
        </p:txBody>
      </p:sp>
      <p:grpSp>
        <p:nvGrpSpPr>
          <p:cNvPr name="Group 39" id="39"/>
          <p:cNvGrpSpPr/>
          <p:nvPr/>
        </p:nvGrpSpPr>
        <p:grpSpPr>
          <a:xfrm rot="0">
            <a:off x="9256214" y="2037902"/>
            <a:ext cx="8197005" cy="6270279"/>
            <a:chOff x="0" y="0"/>
            <a:chExt cx="10929341" cy="8360372"/>
          </a:xfrm>
        </p:grpSpPr>
        <p:sp>
          <p:nvSpPr>
            <p:cNvPr name="Freeform 40" id="40"/>
            <p:cNvSpPr/>
            <p:nvPr/>
          </p:nvSpPr>
          <p:spPr>
            <a:xfrm flipH="false" flipV="false" rot="0">
              <a:off x="0" y="0"/>
              <a:ext cx="10929366" cy="8360410"/>
            </a:xfrm>
            <a:custGeom>
              <a:avLst/>
              <a:gdLst/>
              <a:ahLst/>
              <a:cxnLst/>
              <a:rect r="r" b="b" t="t" l="l"/>
              <a:pathLst>
                <a:path h="8360410" w="10929366">
                  <a:moveTo>
                    <a:pt x="0" y="394462"/>
                  </a:moveTo>
                  <a:cubicBezTo>
                    <a:pt x="0" y="176657"/>
                    <a:pt x="176657" y="0"/>
                    <a:pt x="394462" y="0"/>
                  </a:cubicBezTo>
                  <a:lnTo>
                    <a:pt x="10534904" y="0"/>
                  </a:lnTo>
                  <a:cubicBezTo>
                    <a:pt x="10752710" y="0"/>
                    <a:pt x="10929366" y="176657"/>
                    <a:pt x="10929366" y="394462"/>
                  </a:cubicBezTo>
                  <a:lnTo>
                    <a:pt x="10929366" y="7965948"/>
                  </a:lnTo>
                  <a:cubicBezTo>
                    <a:pt x="10929366" y="8183753"/>
                    <a:pt x="10752710" y="8360410"/>
                    <a:pt x="10534904" y="8360410"/>
                  </a:cubicBezTo>
                  <a:lnTo>
                    <a:pt x="394462" y="8360410"/>
                  </a:lnTo>
                  <a:cubicBezTo>
                    <a:pt x="176657" y="8360410"/>
                    <a:pt x="0" y="8183753"/>
                    <a:pt x="0" y="7965948"/>
                  </a:cubicBezTo>
                  <a:close/>
                </a:path>
              </a:pathLst>
            </a:custGeom>
            <a:solidFill>
              <a:srgbClr val="FF7047"/>
            </a:solidFill>
          </p:spPr>
        </p:sp>
      </p:grpSp>
      <p:sp>
        <p:nvSpPr>
          <p:cNvPr name="TextBox 41" id="41"/>
          <p:cNvSpPr txBox="true"/>
          <p:nvPr/>
        </p:nvSpPr>
        <p:spPr>
          <a:xfrm rot="0">
            <a:off x="9461602" y="2198484"/>
            <a:ext cx="7786240" cy="340071"/>
          </a:xfrm>
          <a:prstGeom prst="rect">
            <a:avLst/>
          </a:prstGeom>
        </p:spPr>
        <p:txBody>
          <a:bodyPr anchor="t" rtlCol="false" tIns="0" lIns="0" bIns="0" rIns="0">
            <a:spAutoFit/>
          </a:bodyPr>
          <a:lstStyle/>
          <a:p>
            <a:pPr algn="l">
              <a:lnSpc>
                <a:spcPts val="2496"/>
              </a:lnSpc>
            </a:pPr>
            <a:r>
              <a:rPr lang="en-US" sz="2000">
                <a:solidFill>
                  <a:srgbClr val="000000"/>
                </a:solidFill>
                <a:latin typeface="Inter"/>
                <a:ea typeface="Inter"/>
                <a:cs typeface="Inter"/>
                <a:sym typeface="Inter"/>
              </a:rPr>
              <a:t>🚀</a:t>
            </a:r>
            <a:r>
              <a:rPr lang="en-US" sz="2000">
                <a:solidFill>
                  <a:srgbClr val="0C0D0F"/>
                </a:solidFill>
                <a:latin typeface="Inter"/>
                <a:ea typeface="Inter"/>
                <a:cs typeface="Inter"/>
                <a:sym typeface="Inter"/>
              </a:rPr>
              <a:t> Future Enhancements</a:t>
            </a:r>
          </a:p>
        </p:txBody>
      </p:sp>
      <p:sp>
        <p:nvSpPr>
          <p:cNvPr name="TextBox 42" id="42"/>
          <p:cNvSpPr txBox="true"/>
          <p:nvPr/>
        </p:nvSpPr>
        <p:spPr>
          <a:xfrm rot="0">
            <a:off x="9461602" y="2651522"/>
            <a:ext cx="7786240" cy="2397623"/>
          </a:xfrm>
          <a:prstGeom prst="rect">
            <a:avLst/>
          </a:prstGeom>
        </p:spPr>
        <p:txBody>
          <a:bodyPr anchor="t" rtlCol="false" tIns="0" lIns="0" bIns="0" rIns="0">
            <a:spAutoFit/>
          </a:bodyPr>
          <a:lstStyle/>
          <a:p>
            <a:pPr algn="l" marL="386080" indent="-193040" lvl="1">
              <a:lnSpc>
                <a:spcPts val="2342"/>
              </a:lnSpc>
              <a:buFont typeface="Arial"/>
              <a:buChar char="•"/>
            </a:pPr>
            <a:r>
              <a:rPr lang="en-US" b="true" sz="1600">
                <a:solidFill>
                  <a:srgbClr val="000000"/>
                </a:solidFill>
                <a:latin typeface="Arimo Bold"/>
                <a:ea typeface="Arimo Bold"/>
                <a:cs typeface="Arimo Bold"/>
                <a:sym typeface="Arimo Bold"/>
              </a:rPr>
              <a:t>Real APIs</a:t>
            </a:r>
            <a:r>
              <a:rPr lang="en-US" sz="1600">
                <a:solidFill>
                  <a:srgbClr val="000000"/>
                </a:solidFill>
                <a:latin typeface="Arimo"/>
                <a:ea typeface="Arimo"/>
                <a:cs typeface="Arimo"/>
                <a:sym typeface="Arimo"/>
              </a:rPr>
              <a:t> — Replace mock data with live Customer Feedback and Market Research APIs</a:t>
            </a:r>
          </a:p>
          <a:p>
            <a:pPr algn="l" marL="386080" indent="-193040" lvl="1">
              <a:lnSpc>
                <a:spcPts val="2342"/>
              </a:lnSpc>
              <a:buFont typeface="Arial"/>
              <a:buChar char="•"/>
            </a:pPr>
            <a:r>
              <a:rPr lang="en-US" b="true" sz="1600">
                <a:solidFill>
                  <a:srgbClr val="000000"/>
                </a:solidFill>
                <a:latin typeface="Arimo Bold"/>
                <a:ea typeface="Arimo Bold"/>
                <a:cs typeface="Arimo Bold"/>
                <a:sym typeface="Arimo Bold"/>
              </a:rPr>
              <a:t>Jira Integration</a:t>
            </a:r>
            <a:r>
              <a:rPr lang="en-US" sz="1600">
                <a:solidFill>
                  <a:srgbClr val="000000"/>
                </a:solidFill>
                <a:latin typeface="Arimo"/>
                <a:ea typeface="Arimo"/>
                <a:cs typeface="Arimo"/>
                <a:sym typeface="Arimo"/>
              </a:rPr>
              <a:t> — Push sprint plans directly to Jira projects via REST API</a:t>
            </a:r>
          </a:p>
          <a:p>
            <a:pPr algn="l" marL="386080" indent="-193040" lvl="1">
              <a:lnSpc>
                <a:spcPts val="2342"/>
              </a:lnSpc>
              <a:buFont typeface="Arial"/>
              <a:buChar char="•"/>
            </a:pPr>
            <a:r>
              <a:rPr lang="en-US" b="true" sz="1600">
                <a:solidFill>
                  <a:srgbClr val="000000"/>
                </a:solidFill>
                <a:latin typeface="Arimo Bold"/>
                <a:ea typeface="Arimo Bold"/>
                <a:cs typeface="Arimo Bold"/>
                <a:sym typeface="Arimo Bold"/>
              </a:rPr>
              <a:t>GitHub Integration</a:t>
            </a:r>
            <a:r>
              <a:rPr lang="en-US" sz="1600">
                <a:solidFill>
                  <a:srgbClr val="000000"/>
                </a:solidFill>
                <a:latin typeface="Arimo"/>
                <a:ea typeface="Arimo"/>
                <a:cs typeface="Arimo"/>
                <a:sym typeface="Arimo"/>
              </a:rPr>
              <a:t> — Auto-create issues and epics from the sprint backlog</a:t>
            </a:r>
          </a:p>
          <a:p>
            <a:pPr algn="l" marL="386080" indent="-193040" lvl="1">
              <a:lnSpc>
                <a:spcPts val="2342"/>
              </a:lnSpc>
              <a:buFont typeface="Arial"/>
              <a:buChar char="•"/>
            </a:pPr>
            <a:r>
              <a:rPr lang="en-US" b="true" sz="1600">
                <a:solidFill>
                  <a:srgbClr val="000000"/>
                </a:solidFill>
                <a:latin typeface="Arimo Bold"/>
                <a:ea typeface="Arimo Bold"/>
                <a:cs typeface="Arimo Bold"/>
                <a:sym typeface="Arimo Bold"/>
              </a:rPr>
              <a:t>Slack Notifications</a:t>
            </a:r>
            <a:r>
              <a:rPr lang="en-US" sz="1600">
                <a:solidFill>
                  <a:srgbClr val="000000"/>
                </a:solidFill>
                <a:latin typeface="Arimo"/>
                <a:ea typeface="Arimo"/>
                <a:cs typeface="Arimo"/>
                <a:sym typeface="Arimo"/>
              </a:rPr>
              <a:t> — Alert stakeholders at each pipeline milestone</a:t>
            </a:r>
          </a:p>
          <a:p>
            <a:pPr algn="l" marL="386080" indent="-193040" lvl="1">
              <a:lnSpc>
                <a:spcPts val="2342"/>
              </a:lnSpc>
              <a:buFont typeface="Arial"/>
              <a:buChar char="•"/>
            </a:pPr>
            <a:r>
              <a:rPr lang="en-US" b="true" sz="1600">
                <a:solidFill>
                  <a:srgbClr val="000000"/>
                </a:solidFill>
                <a:latin typeface="Arimo Bold"/>
                <a:ea typeface="Arimo Bold"/>
                <a:cs typeface="Arimo Bold"/>
                <a:sym typeface="Arimo Bold"/>
              </a:rPr>
              <a:t>RAG Knowledge Base</a:t>
            </a:r>
            <a:r>
              <a:rPr lang="en-US" sz="1600">
                <a:solidFill>
                  <a:srgbClr val="000000"/>
                </a:solidFill>
                <a:latin typeface="Arimo"/>
                <a:ea typeface="Arimo"/>
                <a:cs typeface="Arimo"/>
                <a:sym typeface="Arimo"/>
              </a:rPr>
              <a:t> — Enable agents to query internal product documentation</a:t>
            </a:r>
          </a:p>
        </p:txBody>
      </p:sp>
      <p:grpSp>
        <p:nvGrpSpPr>
          <p:cNvPr name="Group 43" id="43"/>
          <p:cNvGrpSpPr/>
          <p:nvPr/>
        </p:nvGrpSpPr>
        <p:grpSpPr>
          <a:xfrm rot="0">
            <a:off x="992238" y="8499577"/>
            <a:ext cx="16303523" cy="1026471"/>
            <a:chOff x="0" y="0"/>
            <a:chExt cx="21738031" cy="1368628"/>
          </a:xfrm>
        </p:grpSpPr>
        <p:sp>
          <p:nvSpPr>
            <p:cNvPr name="Freeform 44" id="44"/>
            <p:cNvSpPr/>
            <p:nvPr/>
          </p:nvSpPr>
          <p:spPr>
            <a:xfrm flipH="false" flipV="false" rot="0">
              <a:off x="0" y="0"/>
              <a:ext cx="21737955" cy="1368552"/>
            </a:xfrm>
            <a:custGeom>
              <a:avLst/>
              <a:gdLst/>
              <a:ahLst/>
              <a:cxnLst/>
              <a:rect r="r" b="b" t="t" l="l"/>
              <a:pathLst>
                <a:path h="1368552" w="21737955">
                  <a:moveTo>
                    <a:pt x="0" y="246507"/>
                  </a:moveTo>
                  <a:cubicBezTo>
                    <a:pt x="0" y="110363"/>
                    <a:pt x="110363" y="0"/>
                    <a:pt x="246507" y="0"/>
                  </a:cubicBezTo>
                  <a:lnTo>
                    <a:pt x="21491448" y="0"/>
                  </a:lnTo>
                  <a:cubicBezTo>
                    <a:pt x="21627592" y="0"/>
                    <a:pt x="21737955" y="110363"/>
                    <a:pt x="21737955" y="246507"/>
                  </a:cubicBezTo>
                  <a:lnTo>
                    <a:pt x="21737955" y="1122045"/>
                  </a:lnTo>
                  <a:cubicBezTo>
                    <a:pt x="21737955" y="1258189"/>
                    <a:pt x="21627592" y="1368552"/>
                    <a:pt x="21491448" y="1368552"/>
                  </a:cubicBezTo>
                  <a:lnTo>
                    <a:pt x="246507" y="1368552"/>
                  </a:lnTo>
                  <a:cubicBezTo>
                    <a:pt x="110363" y="1368679"/>
                    <a:pt x="0" y="1258189"/>
                    <a:pt x="0" y="1122045"/>
                  </a:cubicBezTo>
                  <a:close/>
                </a:path>
              </a:pathLst>
            </a:custGeom>
            <a:solidFill>
              <a:srgbClr val="FFD7CC"/>
            </a:solidFill>
          </p:spPr>
        </p:sp>
      </p:grpSp>
      <p:grpSp>
        <p:nvGrpSpPr>
          <p:cNvPr name="Group 45" id="45"/>
          <p:cNvGrpSpPr/>
          <p:nvPr/>
        </p:nvGrpSpPr>
        <p:grpSpPr>
          <a:xfrm rot="0">
            <a:off x="1197616" y="8776545"/>
            <a:ext cx="256727" cy="205378"/>
            <a:chOff x="0" y="0"/>
            <a:chExt cx="342303" cy="273837"/>
          </a:xfrm>
        </p:grpSpPr>
        <p:sp>
          <p:nvSpPr>
            <p:cNvPr name="Freeform 46" id="46" descr="preencoded.png"/>
            <p:cNvSpPr/>
            <p:nvPr/>
          </p:nvSpPr>
          <p:spPr>
            <a:xfrm flipH="false" flipV="false" rot="0">
              <a:off x="0" y="0"/>
              <a:ext cx="342265" cy="273812"/>
            </a:xfrm>
            <a:custGeom>
              <a:avLst/>
              <a:gdLst/>
              <a:ahLst/>
              <a:cxnLst/>
              <a:rect r="r" b="b" t="t" l="l"/>
              <a:pathLst>
                <a:path h="273812" w="342265">
                  <a:moveTo>
                    <a:pt x="0" y="0"/>
                  </a:moveTo>
                  <a:lnTo>
                    <a:pt x="342265" y="0"/>
                  </a:lnTo>
                  <a:lnTo>
                    <a:pt x="342265" y="273812"/>
                  </a:lnTo>
                  <a:lnTo>
                    <a:pt x="0" y="273812"/>
                  </a:lnTo>
                  <a:lnTo>
                    <a:pt x="0" y="0"/>
                  </a:lnTo>
                  <a:close/>
                </a:path>
              </a:pathLst>
            </a:custGeom>
            <a:blipFill>
              <a:blip r:embed="rId11"/>
              <a:stretch>
                <a:fillRect l="0" t="-927" r="-11" b="-936"/>
              </a:stretch>
            </a:blipFill>
          </p:spPr>
        </p:sp>
      </p:grpSp>
      <p:sp>
        <p:nvSpPr>
          <p:cNvPr name="TextBox 47" id="47"/>
          <p:cNvSpPr txBox="true"/>
          <p:nvPr/>
        </p:nvSpPr>
        <p:spPr>
          <a:xfrm rot="0">
            <a:off x="1659731" y="8663883"/>
            <a:ext cx="15430652" cy="657816"/>
          </a:xfrm>
          <a:prstGeom prst="rect">
            <a:avLst/>
          </a:prstGeom>
        </p:spPr>
        <p:txBody>
          <a:bodyPr anchor="t" rtlCol="false" tIns="0" lIns="0" bIns="0" rIns="0">
            <a:spAutoFit/>
          </a:bodyPr>
          <a:lstStyle/>
          <a:p>
            <a:pPr algn="l">
              <a:lnSpc>
                <a:spcPts val="2342"/>
              </a:lnSpc>
            </a:pPr>
            <a:r>
              <a:rPr lang="en-US" sz="1600" b="true">
                <a:solidFill>
                  <a:srgbClr val="000000"/>
                </a:solidFill>
                <a:latin typeface="Arimo Bold"/>
                <a:ea typeface="Arimo Bold"/>
                <a:cs typeface="Arimo Bold"/>
                <a:sym typeface="Arimo Bold"/>
              </a:rPr>
              <a:t>Speaker Notes:</a:t>
            </a:r>
            <a:r>
              <a:rPr lang="en-US" sz="1600">
                <a:solidFill>
                  <a:srgbClr val="000000"/>
                </a:solidFill>
                <a:latin typeface="Arimo"/>
                <a:ea typeface="Arimo"/>
                <a:cs typeface="Arimo"/>
                <a:sym typeface="Arimo"/>
              </a:rPr>
              <a:t> Summarize the key results — automation, better decisions, and human oversight. Then outline the future roadmap. Real API integrations and project management tool connections are the natural next steps to make this production-ready.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0ED"/>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87476" y="848316"/>
            <a:ext cx="1431731" cy="357045"/>
            <a:chOff x="0" y="0"/>
            <a:chExt cx="1908975" cy="476060"/>
          </a:xfrm>
        </p:grpSpPr>
        <p:sp>
          <p:nvSpPr>
            <p:cNvPr name="Freeform 7" id="7"/>
            <p:cNvSpPr/>
            <p:nvPr/>
          </p:nvSpPr>
          <p:spPr>
            <a:xfrm flipH="false" flipV="false" rot="0">
              <a:off x="0" y="0"/>
              <a:ext cx="1908937" cy="475996"/>
            </a:xfrm>
            <a:custGeom>
              <a:avLst/>
              <a:gdLst/>
              <a:ahLst/>
              <a:cxnLst/>
              <a:rect r="r" b="b" t="t" l="l"/>
              <a:pathLst>
                <a:path h="475996" w="1908937">
                  <a:moveTo>
                    <a:pt x="0" y="225552"/>
                  </a:moveTo>
                  <a:cubicBezTo>
                    <a:pt x="0" y="100965"/>
                    <a:pt x="100965" y="0"/>
                    <a:pt x="225552" y="0"/>
                  </a:cubicBezTo>
                  <a:lnTo>
                    <a:pt x="1683385" y="0"/>
                  </a:lnTo>
                  <a:cubicBezTo>
                    <a:pt x="1807972" y="0"/>
                    <a:pt x="1908937" y="100965"/>
                    <a:pt x="1908937" y="225552"/>
                  </a:cubicBezTo>
                  <a:lnTo>
                    <a:pt x="1908937" y="250444"/>
                  </a:lnTo>
                  <a:cubicBezTo>
                    <a:pt x="1908937" y="375031"/>
                    <a:pt x="1807972" y="475996"/>
                    <a:pt x="1683385" y="475996"/>
                  </a:cubicBezTo>
                  <a:lnTo>
                    <a:pt x="225552" y="475996"/>
                  </a:lnTo>
                  <a:cubicBezTo>
                    <a:pt x="100965" y="475996"/>
                    <a:pt x="0" y="375031"/>
                    <a:pt x="0" y="250444"/>
                  </a:cubicBezTo>
                  <a:close/>
                </a:path>
              </a:pathLst>
            </a:custGeom>
            <a:blipFill>
              <a:blip r:embed="rId3">
                <a:alphaModFix amt="0"/>
              </a:blip>
              <a:stretch>
                <a:fillRect l="0" t="-28137" r="-1" b="-28151"/>
              </a:stretch>
            </a:blipFill>
            <a:ln w="9526" cap="sq">
              <a:solidFill>
                <a:srgbClr val="FF7047"/>
              </a:solidFill>
              <a:prstDash val="solid"/>
              <a:miter/>
            </a:ln>
          </p:spPr>
        </p:sp>
      </p:grpSp>
      <p:sp>
        <p:nvSpPr>
          <p:cNvPr name="TextBox 8" id="8"/>
          <p:cNvSpPr txBox="true"/>
          <p:nvPr/>
        </p:nvSpPr>
        <p:spPr>
          <a:xfrm rot="0">
            <a:off x="1129455" y="902646"/>
            <a:ext cx="2062162" cy="229343"/>
          </a:xfrm>
          <a:prstGeom prst="rect">
            <a:avLst/>
          </a:prstGeom>
        </p:spPr>
        <p:txBody>
          <a:bodyPr anchor="t" rtlCol="false" tIns="0" lIns="0" bIns="0" rIns="0">
            <a:spAutoFit/>
          </a:bodyPr>
          <a:lstStyle/>
          <a:p>
            <a:pPr algn="l">
              <a:lnSpc>
                <a:spcPts val="1612"/>
              </a:lnSpc>
            </a:pPr>
            <a:r>
              <a:rPr lang="en-US" sz="1399">
                <a:solidFill>
                  <a:srgbClr val="FF7047"/>
                </a:solidFill>
                <a:latin typeface="Arimo"/>
                <a:ea typeface="Arimo"/>
                <a:cs typeface="Arimo"/>
                <a:sym typeface="Arimo"/>
              </a:rPr>
              <a:t>CONCLUSION</a:t>
            </a:r>
          </a:p>
        </p:txBody>
      </p:sp>
      <p:sp>
        <p:nvSpPr>
          <p:cNvPr name="TextBox 9" id="9"/>
          <p:cNvSpPr txBox="true"/>
          <p:nvPr/>
        </p:nvSpPr>
        <p:spPr>
          <a:xfrm rot="0">
            <a:off x="992238" y="1256262"/>
            <a:ext cx="16303523" cy="743245"/>
          </a:xfrm>
          <a:prstGeom prst="rect">
            <a:avLst/>
          </a:prstGeom>
        </p:spPr>
        <p:txBody>
          <a:bodyPr anchor="t" rtlCol="false" tIns="0" lIns="0" bIns="0" rIns="0">
            <a:spAutoFit/>
          </a:bodyPr>
          <a:lstStyle/>
          <a:p>
            <a:pPr algn="l">
              <a:lnSpc>
                <a:spcPts val="5616"/>
              </a:lnSpc>
            </a:pPr>
            <a:r>
              <a:rPr lang="en-US" sz="4500">
                <a:solidFill>
                  <a:srgbClr val="0C0D0F"/>
                </a:solidFill>
                <a:latin typeface="Inter"/>
                <a:ea typeface="Inter"/>
                <a:cs typeface="Inter"/>
                <a:sym typeface="Inter"/>
              </a:rPr>
              <a:t>Conclusion: Multi-Agent AI for Product Management</a:t>
            </a:r>
          </a:p>
        </p:txBody>
      </p:sp>
      <p:sp>
        <p:nvSpPr>
          <p:cNvPr name="TextBox 10" id="10"/>
          <p:cNvSpPr txBox="true"/>
          <p:nvPr/>
        </p:nvSpPr>
        <p:spPr>
          <a:xfrm rot="0">
            <a:off x="992238" y="2239566"/>
            <a:ext cx="16303523"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This project demonstrates that the </a:t>
            </a:r>
            <a:r>
              <a:rPr lang="en-US" sz="1800" b="true">
                <a:solidFill>
                  <a:srgbClr val="55575A"/>
                </a:solidFill>
                <a:latin typeface="Arimo Bold"/>
                <a:ea typeface="Arimo Bold"/>
                <a:cs typeface="Arimo Bold"/>
                <a:sym typeface="Arimo Bold"/>
              </a:rPr>
              <a:t>OpenAI Agents SDK</a:t>
            </a:r>
            <a:r>
              <a:rPr lang="en-US" sz="1800">
                <a:solidFill>
                  <a:srgbClr val="55575A"/>
                </a:solidFill>
                <a:latin typeface="Arimo"/>
                <a:ea typeface="Arimo"/>
                <a:cs typeface="Arimo"/>
                <a:sym typeface="Arimo"/>
              </a:rPr>
              <a:t> provides a powerful foundation for building intelligent, collaborative AI systems that can handle complex, multi-stage workflows.</a:t>
            </a:r>
          </a:p>
        </p:txBody>
      </p:sp>
      <p:grpSp>
        <p:nvGrpSpPr>
          <p:cNvPr name="Group 11" id="11"/>
          <p:cNvGrpSpPr/>
          <p:nvPr/>
        </p:nvGrpSpPr>
        <p:grpSpPr>
          <a:xfrm rot="0">
            <a:off x="987476" y="3251444"/>
            <a:ext cx="16313048" cy="3317377"/>
            <a:chOff x="0" y="0"/>
            <a:chExt cx="21750731" cy="4423169"/>
          </a:xfrm>
        </p:grpSpPr>
        <p:sp>
          <p:nvSpPr>
            <p:cNvPr name="Freeform 12" id="12"/>
            <p:cNvSpPr/>
            <p:nvPr/>
          </p:nvSpPr>
          <p:spPr>
            <a:xfrm flipH="false" flipV="false" rot="0">
              <a:off x="0" y="0"/>
              <a:ext cx="21750655" cy="4423156"/>
            </a:xfrm>
            <a:custGeom>
              <a:avLst/>
              <a:gdLst/>
              <a:ahLst/>
              <a:cxnLst/>
              <a:rect r="r" b="b" t="t" l="l"/>
              <a:pathLst>
                <a:path h="4423156" w="21750655">
                  <a:moveTo>
                    <a:pt x="0" y="275209"/>
                  </a:moveTo>
                  <a:cubicBezTo>
                    <a:pt x="0" y="123190"/>
                    <a:pt x="123190" y="0"/>
                    <a:pt x="275209" y="0"/>
                  </a:cubicBezTo>
                  <a:lnTo>
                    <a:pt x="21475446" y="0"/>
                  </a:lnTo>
                  <a:cubicBezTo>
                    <a:pt x="21627464" y="0"/>
                    <a:pt x="21750655" y="123190"/>
                    <a:pt x="21750655" y="275209"/>
                  </a:cubicBezTo>
                  <a:lnTo>
                    <a:pt x="21750655" y="4147947"/>
                  </a:lnTo>
                  <a:cubicBezTo>
                    <a:pt x="21750655" y="4299966"/>
                    <a:pt x="21627464" y="4423156"/>
                    <a:pt x="21475446" y="4423156"/>
                  </a:cubicBezTo>
                  <a:lnTo>
                    <a:pt x="275209" y="4423156"/>
                  </a:lnTo>
                  <a:cubicBezTo>
                    <a:pt x="123190" y="4423156"/>
                    <a:pt x="0" y="4299966"/>
                    <a:pt x="0" y="4147947"/>
                  </a:cubicBezTo>
                  <a:close/>
                </a:path>
              </a:pathLst>
            </a:custGeom>
            <a:solidFill>
              <a:srgbClr val="FFFFFF"/>
            </a:solidFill>
            <a:ln w="9526" cap="sq">
              <a:solidFill>
                <a:srgbClr val="FF7047"/>
              </a:solidFill>
              <a:prstDash val="solid"/>
              <a:miter/>
            </a:ln>
          </p:spPr>
        </p:sp>
      </p:grpSp>
      <p:grpSp>
        <p:nvGrpSpPr>
          <p:cNvPr name="Group 13" id="13"/>
          <p:cNvGrpSpPr/>
          <p:nvPr/>
        </p:nvGrpSpPr>
        <p:grpSpPr>
          <a:xfrm rot="0">
            <a:off x="1001763" y="3265732"/>
            <a:ext cx="8142237" cy="1644406"/>
            <a:chOff x="0" y="0"/>
            <a:chExt cx="10856316" cy="2192541"/>
          </a:xfrm>
        </p:grpSpPr>
        <p:sp>
          <p:nvSpPr>
            <p:cNvPr name="Freeform 14" id="14"/>
            <p:cNvSpPr/>
            <p:nvPr/>
          </p:nvSpPr>
          <p:spPr>
            <a:xfrm flipH="false" flipV="false" rot="0">
              <a:off x="0" y="0"/>
              <a:ext cx="10856341" cy="2192528"/>
            </a:xfrm>
            <a:custGeom>
              <a:avLst/>
              <a:gdLst/>
              <a:ahLst/>
              <a:cxnLst/>
              <a:rect r="r" b="b" t="t" l="l"/>
              <a:pathLst>
                <a:path h="2192528" w="10856341">
                  <a:moveTo>
                    <a:pt x="228727" y="0"/>
                  </a:moveTo>
                  <a:lnTo>
                    <a:pt x="10856341" y="0"/>
                  </a:lnTo>
                  <a:lnTo>
                    <a:pt x="10856341" y="2192528"/>
                  </a:lnTo>
                  <a:lnTo>
                    <a:pt x="0" y="2192528"/>
                  </a:lnTo>
                  <a:lnTo>
                    <a:pt x="0" y="228727"/>
                  </a:lnTo>
                  <a:cubicBezTo>
                    <a:pt x="0" y="102362"/>
                    <a:pt x="102362" y="0"/>
                    <a:pt x="228727" y="0"/>
                  </a:cubicBezTo>
                  <a:close/>
                </a:path>
              </a:pathLst>
            </a:custGeom>
            <a:solidFill>
              <a:srgbClr val="FFFFFF"/>
            </a:solidFill>
          </p:spPr>
        </p:sp>
      </p:grpSp>
      <p:sp>
        <p:nvSpPr>
          <p:cNvPr name="TextBox 15" id="15"/>
          <p:cNvSpPr txBox="true"/>
          <p:nvPr/>
        </p:nvSpPr>
        <p:spPr>
          <a:xfrm rot="0">
            <a:off x="1230363" y="3484807"/>
            <a:ext cx="7685037" cy="366865"/>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Multi-Agent Collaboration</a:t>
            </a:r>
          </a:p>
        </p:txBody>
      </p:sp>
      <p:sp>
        <p:nvSpPr>
          <p:cNvPr name="TextBox 16" id="16"/>
          <p:cNvSpPr txBox="true"/>
          <p:nvPr/>
        </p:nvSpPr>
        <p:spPr>
          <a:xfrm rot="0">
            <a:off x="1230363" y="3901973"/>
            <a:ext cx="7685037"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Five specialized agents working in sequence, each contributing unique expertise to a shared goal.</a:t>
            </a:r>
          </a:p>
        </p:txBody>
      </p:sp>
      <p:grpSp>
        <p:nvGrpSpPr>
          <p:cNvPr name="Group 17" id="17"/>
          <p:cNvGrpSpPr/>
          <p:nvPr/>
        </p:nvGrpSpPr>
        <p:grpSpPr>
          <a:xfrm rot="0">
            <a:off x="9144000" y="3265732"/>
            <a:ext cx="8142237" cy="1644406"/>
            <a:chOff x="0" y="0"/>
            <a:chExt cx="10856316" cy="2192541"/>
          </a:xfrm>
        </p:grpSpPr>
        <p:sp>
          <p:nvSpPr>
            <p:cNvPr name="Freeform 18" id="18"/>
            <p:cNvSpPr/>
            <p:nvPr/>
          </p:nvSpPr>
          <p:spPr>
            <a:xfrm flipH="false" flipV="false" rot="0">
              <a:off x="0" y="0"/>
              <a:ext cx="10856341" cy="2192528"/>
            </a:xfrm>
            <a:custGeom>
              <a:avLst/>
              <a:gdLst/>
              <a:ahLst/>
              <a:cxnLst/>
              <a:rect r="r" b="b" t="t" l="l"/>
              <a:pathLst>
                <a:path h="2192528" w="10856341">
                  <a:moveTo>
                    <a:pt x="0" y="0"/>
                  </a:moveTo>
                  <a:lnTo>
                    <a:pt x="10627614" y="0"/>
                  </a:lnTo>
                  <a:cubicBezTo>
                    <a:pt x="10753979" y="0"/>
                    <a:pt x="10856341" y="102362"/>
                    <a:pt x="10856341" y="228727"/>
                  </a:cubicBezTo>
                  <a:lnTo>
                    <a:pt x="10856341" y="2192528"/>
                  </a:lnTo>
                  <a:lnTo>
                    <a:pt x="0" y="2192528"/>
                  </a:lnTo>
                  <a:lnTo>
                    <a:pt x="0" y="0"/>
                  </a:lnTo>
                  <a:close/>
                </a:path>
              </a:pathLst>
            </a:custGeom>
            <a:solidFill>
              <a:srgbClr val="FFFFFF"/>
            </a:solidFill>
          </p:spPr>
        </p:sp>
      </p:grpSp>
      <p:grpSp>
        <p:nvGrpSpPr>
          <p:cNvPr name="Group 19" id="19"/>
          <p:cNvGrpSpPr/>
          <p:nvPr/>
        </p:nvGrpSpPr>
        <p:grpSpPr>
          <a:xfrm rot="0">
            <a:off x="9144000" y="3265732"/>
            <a:ext cx="28575" cy="1644406"/>
            <a:chOff x="0" y="0"/>
            <a:chExt cx="38100" cy="2192541"/>
          </a:xfrm>
        </p:grpSpPr>
        <p:sp>
          <p:nvSpPr>
            <p:cNvPr name="Freeform 20" id="20"/>
            <p:cNvSpPr/>
            <p:nvPr/>
          </p:nvSpPr>
          <p:spPr>
            <a:xfrm flipH="false" flipV="false" rot="0">
              <a:off x="0" y="0"/>
              <a:ext cx="38100" cy="2192528"/>
            </a:xfrm>
            <a:custGeom>
              <a:avLst/>
              <a:gdLst/>
              <a:ahLst/>
              <a:cxnLst/>
              <a:rect r="r" b="b" t="t" l="l"/>
              <a:pathLst>
                <a:path h="2192528" w="38100">
                  <a:moveTo>
                    <a:pt x="0" y="19050"/>
                  </a:moveTo>
                  <a:cubicBezTo>
                    <a:pt x="0" y="8509"/>
                    <a:pt x="8509" y="0"/>
                    <a:pt x="19050" y="0"/>
                  </a:cubicBezTo>
                  <a:cubicBezTo>
                    <a:pt x="29591" y="0"/>
                    <a:pt x="38100" y="8509"/>
                    <a:pt x="38100" y="19050"/>
                  </a:cubicBezTo>
                  <a:lnTo>
                    <a:pt x="38100" y="2173478"/>
                  </a:lnTo>
                  <a:cubicBezTo>
                    <a:pt x="38100" y="2184019"/>
                    <a:pt x="29591" y="2192528"/>
                    <a:pt x="19050" y="2192528"/>
                  </a:cubicBezTo>
                  <a:cubicBezTo>
                    <a:pt x="8509" y="2192528"/>
                    <a:pt x="0" y="2184019"/>
                    <a:pt x="0" y="2173478"/>
                  </a:cubicBezTo>
                  <a:close/>
                </a:path>
              </a:pathLst>
            </a:custGeom>
            <a:solidFill>
              <a:srgbClr val="E5562D"/>
            </a:solidFill>
          </p:spPr>
        </p:sp>
      </p:grpSp>
      <p:sp>
        <p:nvSpPr>
          <p:cNvPr name="TextBox 21" id="21"/>
          <p:cNvSpPr txBox="true"/>
          <p:nvPr/>
        </p:nvSpPr>
        <p:spPr>
          <a:xfrm rot="0">
            <a:off x="9372600" y="3484807"/>
            <a:ext cx="7685037" cy="366865"/>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Memory Management</a:t>
            </a:r>
          </a:p>
        </p:txBody>
      </p:sp>
      <p:sp>
        <p:nvSpPr>
          <p:cNvPr name="TextBox 22" id="22"/>
          <p:cNvSpPr txBox="true"/>
          <p:nvPr/>
        </p:nvSpPr>
        <p:spPr>
          <a:xfrm rot="0">
            <a:off x="9372600" y="3901973"/>
            <a:ext cx="7685037"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Shared memory ensures consistent context flows seamlessly across all agents and pipeline stages.</a:t>
            </a:r>
          </a:p>
        </p:txBody>
      </p:sp>
      <p:grpSp>
        <p:nvGrpSpPr>
          <p:cNvPr name="Group 23" id="23"/>
          <p:cNvGrpSpPr/>
          <p:nvPr/>
        </p:nvGrpSpPr>
        <p:grpSpPr>
          <a:xfrm rot="0">
            <a:off x="1001763" y="4910138"/>
            <a:ext cx="8142237" cy="1644406"/>
            <a:chOff x="0" y="0"/>
            <a:chExt cx="10856316" cy="2192541"/>
          </a:xfrm>
        </p:grpSpPr>
        <p:sp>
          <p:nvSpPr>
            <p:cNvPr name="Freeform 24" id="24"/>
            <p:cNvSpPr/>
            <p:nvPr/>
          </p:nvSpPr>
          <p:spPr>
            <a:xfrm flipH="false" flipV="false" rot="0">
              <a:off x="0" y="0"/>
              <a:ext cx="10856341" cy="2192528"/>
            </a:xfrm>
            <a:custGeom>
              <a:avLst/>
              <a:gdLst/>
              <a:ahLst/>
              <a:cxnLst/>
              <a:rect r="r" b="b" t="t" l="l"/>
              <a:pathLst>
                <a:path h="2192528" w="10856341">
                  <a:moveTo>
                    <a:pt x="0" y="0"/>
                  </a:moveTo>
                  <a:lnTo>
                    <a:pt x="10856341" y="0"/>
                  </a:lnTo>
                  <a:lnTo>
                    <a:pt x="10856341" y="2192528"/>
                  </a:lnTo>
                  <a:lnTo>
                    <a:pt x="228727" y="2192528"/>
                  </a:lnTo>
                  <a:cubicBezTo>
                    <a:pt x="102362" y="2192528"/>
                    <a:pt x="0" y="2090166"/>
                    <a:pt x="0" y="1963801"/>
                  </a:cubicBezTo>
                  <a:lnTo>
                    <a:pt x="0" y="0"/>
                  </a:lnTo>
                  <a:close/>
                </a:path>
              </a:pathLst>
            </a:custGeom>
            <a:solidFill>
              <a:srgbClr val="FFFFFF"/>
            </a:solidFill>
          </p:spPr>
        </p:sp>
      </p:grpSp>
      <p:grpSp>
        <p:nvGrpSpPr>
          <p:cNvPr name="Group 25" id="25"/>
          <p:cNvGrpSpPr/>
          <p:nvPr/>
        </p:nvGrpSpPr>
        <p:grpSpPr>
          <a:xfrm rot="0">
            <a:off x="1001763" y="4910138"/>
            <a:ext cx="8142237" cy="28575"/>
            <a:chOff x="0" y="0"/>
            <a:chExt cx="10856316" cy="38100"/>
          </a:xfrm>
        </p:grpSpPr>
        <p:sp>
          <p:nvSpPr>
            <p:cNvPr name="Freeform 26" id="26"/>
            <p:cNvSpPr/>
            <p:nvPr/>
          </p:nvSpPr>
          <p:spPr>
            <a:xfrm flipH="false" flipV="false" rot="0">
              <a:off x="0" y="0"/>
              <a:ext cx="10856341" cy="38100"/>
            </a:xfrm>
            <a:custGeom>
              <a:avLst/>
              <a:gdLst/>
              <a:ahLst/>
              <a:cxnLst/>
              <a:rect r="r" b="b" t="t" l="l"/>
              <a:pathLst>
                <a:path h="38100" w="10856341">
                  <a:moveTo>
                    <a:pt x="0" y="19050"/>
                  </a:moveTo>
                  <a:cubicBezTo>
                    <a:pt x="0" y="8509"/>
                    <a:pt x="8509" y="0"/>
                    <a:pt x="19050" y="0"/>
                  </a:cubicBezTo>
                  <a:lnTo>
                    <a:pt x="10837291" y="0"/>
                  </a:lnTo>
                  <a:cubicBezTo>
                    <a:pt x="10847832" y="0"/>
                    <a:pt x="10856341" y="8509"/>
                    <a:pt x="10856341" y="19050"/>
                  </a:cubicBezTo>
                  <a:cubicBezTo>
                    <a:pt x="10856341" y="29591"/>
                    <a:pt x="10847832" y="38100"/>
                    <a:pt x="10837291" y="38100"/>
                  </a:cubicBezTo>
                  <a:lnTo>
                    <a:pt x="19050" y="38100"/>
                  </a:lnTo>
                  <a:cubicBezTo>
                    <a:pt x="8509" y="38100"/>
                    <a:pt x="0" y="29591"/>
                    <a:pt x="0" y="19050"/>
                  </a:cubicBezTo>
                  <a:close/>
                </a:path>
              </a:pathLst>
            </a:custGeom>
            <a:solidFill>
              <a:srgbClr val="E5562D"/>
            </a:solidFill>
          </p:spPr>
        </p:sp>
      </p:grpSp>
      <p:sp>
        <p:nvSpPr>
          <p:cNvPr name="TextBox 27" id="27"/>
          <p:cNvSpPr txBox="true"/>
          <p:nvPr/>
        </p:nvSpPr>
        <p:spPr>
          <a:xfrm rot="0">
            <a:off x="1230363" y="5129213"/>
            <a:ext cx="7685037" cy="366865"/>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Structured Outputs</a:t>
            </a:r>
          </a:p>
        </p:txBody>
      </p:sp>
      <p:sp>
        <p:nvSpPr>
          <p:cNvPr name="TextBox 28" id="28"/>
          <p:cNvSpPr txBox="true"/>
          <p:nvPr/>
        </p:nvSpPr>
        <p:spPr>
          <a:xfrm rot="0">
            <a:off x="1230363" y="5546379"/>
            <a:ext cx="7685037"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Zod-validated PRDs, roadmaps, and sprint plans ready for immediate team consumption.</a:t>
            </a:r>
          </a:p>
        </p:txBody>
      </p:sp>
      <p:grpSp>
        <p:nvGrpSpPr>
          <p:cNvPr name="Group 29" id="29"/>
          <p:cNvGrpSpPr/>
          <p:nvPr/>
        </p:nvGrpSpPr>
        <p:grpSpPr>
          <a:xfrm rot="0">
            <a:off x="9144000" y="4910138"/>
            <a:ext cx="8142237" cy="1644406"/>
            <a:chOff x="0" y="0"/>
            <a:chExt cx="10856316" cy="2192541"/>
          </a:xfrm>
        </p:grpSpPr>
        <p:sp>
          <p:nvSpPr>
            <p:cNvPr name="Freeform 30" id="30"/>
            <p:cNvSpPr/>
            <p:nvPr/>
          </p:nvSpPr>
          <p:spPr>
            <a:xfrm flipH="false" flipV="false" rot="0">
              <a:off x="0" y="0"/>
              <a:ext cx="10856341" cy="2192528"/>
            </a:xfrm>
            <a:custGeom>
              <a:avLst/>
              <a:gdLst/>
              <a:ahLst/>
              <a:cxnLst/>
              <a:rect r="r" b="b" t="t" l="l"/>
              <a:pathLst>
                <a:path h="2192528" w="10856341">
                  <a:moveTo>
                    <a:pt x="0" y="0"/>
                  </a:moveTo>
                  <a:lnTo>
                    <a:pt x="10856341" y="0"/>
                  </a:lnTo>
                  <a:lnTo>
                    <a:pt x="10856341" y="1963801"/>
                  </a:lnTo>
                  <a:cubicBezTo>
                    <a:pt x="10856341" y="2090166"/>
                    <a:pt x="10753979" y="2192528"/>
                    <a:pt x="10627614" y="2192528"/>
                  </a:cubicBezTo>
                  <a:lnTo>
                    <a:pt x="0" y="2192528"/>
                  </a:lnTo>
                  <a:lnTo>
                    <a:pt x="0" y="0"/>
                  </a:lnTo>
                  <a:close/>
                </a:path>
              </a:pathLst>
            </a:custGeom>
            <a:solidFill>
              <a:srgbClr val="FFFFFF"/>
            </a:solidFill>
          </p:spPr>
        </p:sp>
      </p:grpSp>
      <p:grpSp>
        <p:nvGrpSpPr>
          <p:cNvPr name="Group 31" id="31"/>
          <p:cNvGrpSpPr/>
          <p:nvPr/>
        </p:nvGrpSpPr>
        <p:grpSpPr>
          <a:xfrm rot="0">
            <a:off x="9144000" y="4910138"/>
            <a:ext cx="28575" cy="1644406"/>
            <a:chOff x="0" y="0"/>
            <a:chExt cx="38100" cy="2192541"/>
          </a:xfrm>
        </p:grpSpPr>
        <p:sp>
          <p:nvSpPr>
            <p:cNvPr name="Freeform 32" id="32"/>
            <p:cNvSpPr/>
            <p:nvPr/>
          </p:nvSpPr>
          <p:spPr>
            <a:xfrm flipH="false" flipV="false" rot="0">
              <a:off x="0" y="0"/>
              <a:ext cx="38100" cy="2192528"/>
            </a:xfrm>
            <a:custGeom>
              <a:avLst/>
              <a:gdLst/>
              <a:ahLst/>
              <a:cxnLst/>
              <a:rect r="r" b="b" t="t" l="l"/>
              <a:pathLst>
                <a:path h="2192528" w="38100">
                  <a:moveTo>
                    <a:pt x="0" y="19050"/>
                  </a:moveTo>
                  <a:cubicBezTo>
                    <a:pt x="0" y="8509"/>
                    <a:pt x="8509" y="0"/>
                    <a:pt x="19050" y="0"/>
                  </a:cubicBezTo>
                  <a:cubicBezTo>
                    <a:pt x="29591" y="0"/>
                    <a:pt x="38100" y="8509"/>
                    <a:pt x="38100" y="19050"/>
                  </a:cubicBezTo>
                  <a:lnTo>
                    <a:pt x="38100" y="2173478"/>
                  </a:lnTo>
                  <a:cubicBezTo>
                    <a:pt x="38100" y="2184019"/>
                    <a:pt x="29591" y="2192528"/>
                    <a:pt x="19050" y="2192528"/>
                  </a:cubicBezTo>
                  <a:cubicBezTo>
                    <a:pt x="8509" y="2192528"/>
                    <a:pt x="0" y="2184019"/>
                    <a:pt x="0" y="2173478"/>
                  </a:cubicBezTo>
                  <a:close/>
                </a:path>
              </a:pathLst>
            </a:custGeom>
            <a:solidFill>
              <a:srgbClr val="E5562D"/>
            </a:solidFill>
          </p:spPr>
        </p:sp>
      </p:grpSp>
      <p:grpSp>
        <p:nvGrpSpPr>
          <p:cNvPr name="Group 33" id="33"/>
          <p:cNvGrpSpPr/>
          <p:nvPr/>
        </p:nvGrpSpPr>
        <p:grpSpPr>
          <a:xfrm rot="0">
            <a:off x="9144000" y="4910138"/>
            <a:ext cx="8142237" cy="28575"/>
            <a:chOff x="0" y="0"/>
            <a:chExt cx="10856316" cy="38100"/>
          </a:xfrm>
        </p:grpSpPr>
        <p:sp>
          <p:nvSpPr>
            <p:cNvPr name="Freeform 34" id="34"/>
            <p:cNvSpPr/>
            <p:nvPr/>
          </p:nvSpPr>
          <p:spPr>
            <a:xfrm flipH="false" flipV="false" rot="0">
              <a:off x="0" y="0"/>
              <a:ext cx="10856341" cy="38100"/>
            </a:xfrm>
            <a:custGeom>
              <a:avLst/>
              <a:gdLst/>
              <a:ahLst/>
              <a:cxnLst/>
              <a:rect r="r" b="b" t="t" l="l"/>
              <a:pathLst>
                <a:path h="38100" w="10856341">
                  <a:moveTo>
                    <a:pt x="0" y="19050"/>
                  </a:moveTo>
                  <a:cubicBezTo>
                    <a:pt x="0" y="8509"/>
                    <a:pt x="8509" y="0"/>
                    <a:pt x="19050" y="0"/>
                  </a:cubicBezTo>
                  <a:lnTo>
                    <a:pt x="10837291" y="0"/>
                  </a:lnTo>
                  <a:cubicBezTo>
                    <a:pt x="10847832" y="0"/>
                    <a:pt x="10856341" y="8509"/>
                    <a:pt x="10856341" y="19050"/>
                  </a:cubicBezTo>
                  <a:cubicBezTo>
                    <a:pt x="10856341" y="29591"/>
                    <a:pt x="10847832" y="38100"/>
                    <a:pt x="10837291" y="38100"/>
                  </a:cubicBezTo>
                  <a:lnTo>
                    <a:pt x="19050" y="38100"/>
                  </a:lnTo>
                  <a:cubicBezTo>
                    <a:pt x="8509" y="38100"/>
                    <a:pt x="0" y="29591"/>
                    <a:pt x="0" y="19050"/>
                  </a:cubicBezTo>
                  <a:close/>
                </a:path>
              </a:pathLst>
            </a:custGeom>
            <a:solidFill>
              <a:srgbClr val="E5562D"/>
            </a:solidFill>
          </p:spPr>
        </p:sp>
      </p:grpSp>
      <p:sp>
        <p:nvSpPr>
          <p:cNvPr name="TextBox 35" id="35"/>
          <p:cNvSpPr txBox="true"/>
          <p:nvPr/>
        </p:nvSpPr>
        <p:spPr>
          <a:xfrm rot="0">
            <a:off x="9372600" y="5129213"/>
            <a:ext cx="7685037" cy="366865"/>
          </a:xfrm>
          <a:prstGeom prst="rect">
            <a:avLst/>
          </a:prstGeom>
        </p:spPr>
        <p:txBody>
          <a:bodyPr anchor="t" rtlCol="false" tIns="0" lIns="0" bIns="0" rIns="0">
            <a:spAutoFit/>
          </a:bodyPr>
          <a:lstStyle/>
          <a:p>
            <a:pPr algn="l">
              <a:lnSpc>
                <a:spcPts val="2745"/>
              </a:lnSpc>
            </a:pPr>
            <a:r>
              <a:rPr lang="en-US" sz="2200">
                <a:solidFill>
                  <a:srgbClr val="000000"/>
                </a:solidFill>
                <a:latin typeface="Inter"/>
                <a:ea typeface="Inter"/>
                <a:cs typeface="Inter"/>
                <a:sym typeface="Inter"/>
              </a:rPr>
              <a:t>✅</a:t>
            </a:r>
            <a:r>
              <a:rPr lang="en-US" sz="2200">
                <a:solidFill>
                  <a:srgbClr val="55575A"/>
                </a:solidFill>
                <a:latin typeface="Inter"/>
                <a:ea typeface="Inter"/>
                <a:cs typeface="Inter"/>
                <a:sym typeface="Inter"/>
              </a:rPr>
              <a:t> Human Approval</a:t>
            </a:r>
          </a:p>
        </p:txBody>
      </p:sp>
      <p:sp>
        <p:nvSpPr>
          <p:cNvPr name="TextBox 36" id="36"/>
          <p:cNvSpPr txBox="true"/>
          <p:nvPr/>
        </p:nvSpPr>
        <p:spPr>
          <a:xfrm rot="0">
            <a:off x="9372600" y="5546379"/>
            <a:ext cx="7685037"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Human-in-the-loop checkpoints preserve strategic oversight and build trust in AI-assisted decisions.</a:t>
            </a:r>
          </a:p>
        </p:txBody>
      </p:sp>
      <p:sp>
        <p:nvSpPr>
          <p:cNvPr name="TextBox 37" id="37"/>
          <p:cNvSpPr txBox="true"/>
          <p:nvPr/>
        </p:nvSpPr>
        <p:spPr>
          <a:xfrm rot="0">
            <a:off x="1335291" y="6962032"/>
            <a:ext cx="15960481" cy="779564"/>
          </a:xfrm>
          <a:prstGeom prst="rect">
            <a:avLst/>
          </a:prstGeom>
        </p:spPr>
        <p:txBody>
          <a:bodyPr anchor="t" rtlCol="false" tIns="0" lIns="0" bIns="0" rIns="0">
            <a:spAutoFit/>
          </a:bodyPr>
          <a:lstStyle/>
          <a:p>
            <a:pPr algn="l">
              <a:lnSpc>
                <a:spcPts val="2764"/>
              </a:lnSpc>
            </a:pPr>
            <a:r>
              <a:rPr lang="en-US" sz="1800">
                <a:solidFill>
                  <a:srgbClr val="55575A"/>
                </a:solidFill>
                <a:latin typeface="Arimo"/>
                <a:ea typeface="Arimo"/>
                <a:cs typeface="Arimo"/>
                <a:sym typeface="Arimo"/>
              </a:rPr>
              <a:t>The AI Product Manager is not a replacement for product thinking — it is an intelligent co-pilot that amplifies a PM's ability to make faster, better-informed decisions.</a:t>
            </a:r>
          </a:p>
        </p:txBody>
      </p:sp>
      <p:grpSp>
        <p:nvGrpSpPr>
          <p:cNvPr name="Group 38" id="38"/>
          <p:cNvGrpSpPr/>
          <p:nvPr/>
        </p:nvGrpSpPr>
        <p:grpSpPr>
          <a:xfrm rot="0">
            <a:off x="992238" y="6801145"/>
            <a:ext cx="28575" cy="1177528"/>
            <a:chOff x="0" y="0"/>
            <a:chExt cx="38100" cy="1570038"/>
          </a:xfrm>
        </p:grpSpPr>
        <p:sp>
          <p:nvSpPr>
            <p:cNvPr name="Freeform 39" id="39"/>
            <p:cNvSpPr/>
            <p:nvPr/>
          </p:nvSpPr>
          <p:spPr>
            <a:xfrm flipH="false" flipV="false" rot="0">
              <a:off x="0" y="0"/>
              <a:ext cx="38100" cy="1569974"/>
            </a:xfrm>
            <a:custGeom>
              <a:avLst/>
              <a:gdLst/>
              <a:ahLst/>
              <a:cxnLst/>
              <a:rect r="r" b="b" t="t" l="l"/>
              <a:pathLst>
                <a:path h="1569974" w="38100">
                  <a:moveTo>
                    <a:pt x="0" y="19050"/>
                  </a:moveTo>
                  <a:cubicBezTo>
                    <a:pt x="0" y="8509"/>
                    <a:pt x="8509" y="0"/>
                    <a:pt x="19050" y="0"/>
                  </a:cubicBezTo>
                  <a:cubicBezTo>
                    <a:pt x="29591" y="0"/>
                    <a:pt x="38100" y="8509"/>
                    <a:pt x="38100" y="19050"/>
                  </a:cubicBezTo>
                  <a:lnTo>
                    <a:pt x="38100" y="1550924"/>
                  </a:lnTo>
                  <a:cubicBezTo>
                    <a:pt x="38100" y="1561465"/>
                    <a:pt x="29591" y="1569974"/>
                    <a:pt x="19050" y="1569974"/>
                  </a:cubicBezTo>
                  <a:cubicBezTo>
                    <a:pt x="8509" y="1569974"/>
                    <a:pt x="0" y="1561465"/>
                    <a:pt x="0" y="1550924"/>
                  </a:cubicBezTo>
                  <a:close/>
                </a:path>
              </a:pathLst>
            </a:custGeom>
            <a:solidFill>
              <a:srgbClr val="FF7047"/>
            </a:solidFill>
          </p:spPr>
        </p:sp>
      </p:grpSp>
      <p:grpSp>
        <p:nvGrpSpPr>
          <p:cNvPr name="Group 40" id="40"/>
          <p:cNvGrpSpPr/>
          <p:nvPr/>
        </p:nvGrpSpPr>
        <p:grpSpPr>
          <a:xfrm rot="0">
            <a:off x="992238" y="8215760"/>
            <a:ext cx="16303523" cy="1218162"/>
            <a:chOff x="0" y="0"/>
            <a:chExt cx="21738031" cy="1624216"/>
          </a:xfrm>
        </p:grpSpPr>
        <p:sp>
          <p:nvSpPr>
            <p:cNvPr name="Freeform 41" id="41"/>
            <p:cNvSpPr/>
            <p:nvPr/>
          </p:nvSpPr>
          <p:spPr>
            <a:xfrm flipH="false" flipV="false" rot="0">
              <a:off x="0" y="0"/>
              <a:ext cx="21738082" cy="1624203"/>
            </a:xfrm>
            <a:custGeom>
              <a:avLst/>
              <a:gdLst/>
              <a:ahLst/>
              <a:cxnLst/>
              <a:rect r="r" b="b" t="t" l="l"/>
              <a:pathLst>
                <a:path h="1624203" w="21738082">
                  <a:moveTo>
                    <a:pt x="0" y="274447"/>
                  </a:moveTo>
                  <a:cubicBezTo>
                    <a:pt x="0" y="122936"/>
                    <a:pt x="122936" y="0"/>
                    <a:pt x="274447" y="0"/>
                  </a:cubicBezTo>
                  <a:lnTo>
                    <a:pt x="21463636" y="0"/>
                  </a:lnTo>
                  <a:cubicBezTo>
                    <a:pt x="21615273" y="0"/>
                    <a:pt x="21738082" y="122936"/>
                    <a:pt x="21738082" y="274447"/>
                  </a:cubicBezTo>
                  <a:lnTo>
                    <a:pt x="21738082" y="1349756"/>
                  </a:lnTo>
                  <a:cubicBezTo>
                    <a:pt x="21738082" y="1501394"/>
                    <a:pt x="21615147" y="1624203"/>
                    <a:pt x="21463636" y="1624203"/>
                  </a:cubicBezTo>
                  <a:lnTo>
                    <a:pt x="274447" y="1624203"/>
                  </a:lnTo>
                  <a:cubicBezTo>
                    <a:pt x="122936" y="1624203"/>
                    <a:pt x="0" y="1501394"/>
                    <a:pt x="0" y="1349756"/>
                  </a:cubicBezTo>
                  <a:close/>
                </a:path>
              </a:pathLst>
            </a:custGeom>
            <a:solidFill>
              <a:srgbClr val="FFD7CC"/>
            </a:solidFill>
          </p:spPr>
        </p:sp>
      </p:grpSp>
      <p:grpSp>
        <p:nvGrpSpPr>
          <p:cNvPr name="Group 42" id="42"/>
          <p:cNvGrpSpPr/>
          <p:nvPr/>
        </p:nvGrpSpPr>
        <p:grpSpPr>
          <a:xfrm rot="0">
            <a:off x="1220838" y="8530085"/>
            <a:ext cx="285750" cy="228600"/>
            <a:chOff x="0" y="0"/>
            <a:chExt cx="381000" cy="304800"/>
          </a:xfrm>
        </p:grpSpPr>
        <p:sp>
          <p:nvSpPr>
            <p:cNvPr name="Freeform 43" id="43" descr="preencoded.png"/>
            <p:cNvSpPr/>
            <p:nvPr/>
          </p:nvSpPr>
          <p:spPr>
            <a:xfrm flipH="false" flipV="false" rot="0">
              <a:off x="0" y="0"/>
              <a:ext cx="381000" cy="304800"/>
            </a:xfrm>
            <a:custGeom>
              <a:avLst/>
              <a:gdLst/>
              <a:ahLst/>
              <a:cxnLst/>
              <a:rect r="r" b="b" t="t" l="l"/>
              <a:pathLst>
                <a:path h="304800" w="381000">
                  <a:moveTo>
                    <a:pt x="0" y="0"/>
                  </a:moveTo>
                  <a:lnTo>
                    <a:pt x="381000" y="0"/>
                  </a:lnTo>
                  <a:lnTo>
                    <a:pt x="381000" y="304800"/>
                  </a:lnTo>
                  <a:lnTo>
                    <a:pt x="0" y="304800"/>
                  </a:lnTo>
                  <a:lnTo>
                    <a:pt x="0" y="0"/>
                  </a:lnTo>
                  <a:close/>
                </a:path>
              </a:pathLst>
            </a:custGeom>
            <a:blipFill>
              <a:blip r:embed="rId4"/>
              <a:stretch>
                <a:fillRect l="0" t="0" r="0" b="0"/>
              </a:stretch>
            </a:blipFill>
          </p:spPr>
        </p:sp>
      </p:grpSp>
      <p:sp>
        <p:nvSpPr>
          <p:cNvPr name="TextBox 44" id="44"/>
          <p:cNvSpPr txBox="true"/>
          <p:nvPr/>
        </p:nvSpPr>
        <p:spPr>
          <a:xfrm rot="0">
            <a:off x="1735188" y="8407451"/>
            <a:ext cx="15331973" cy="779564"/>
          </a:xfrm>
          <a:prstGeom prst="rect">
            <a:avLst/>
          </a:prstGeom>
        </p:spPr>
        <p:txBody>
          <a:bodyPr anchor="t" rtlCol="false" tIns="0" lIns="0" bIns="0" rIns="0">
            <a:spAutoFit/>
          </a:bodyPr>
          <a:lstStyle/>
          <a:p>
            <a:pPr algn="l">
              <a:lnSpc>
                <a:spcPts val="2764"/>
              </a:lnSpc>
            </a:pPr>
            <a:r>
              <a:rPr lang="en-US" sz="1800" b="true">
                <a:solidFill>
                  <a:srgbClr val="000000"/>
                </a:solidFill>
                <a:latin typeface="Arimo Bold"/>
                <a:ea typeface="Arimo Bold"/>
                <a:cs typeface="Arimo Bold"/>
                <a:sym typeface="Arimo Bold"/>
              </a:rPr>
              <a:t>Speaker Notes:</a:t>
            </a:r>
            <a:r>
              <a:rPr lang="en-US" sz="1800">
                <a:solidFill>
                  <a:srgbClr val="000000"/>
                </a:solidFill>
                <a:latin typeface="Arimo"/>
                <a:ea typeface="Arimo"/>
                <a:cs typeface="Arimo"/>
                <a:sym typeface="Arimo"/>
              </a:rPr>
              <a:t> Close by reinforcing the core message: this system demonstrates real multi-agent collaboration using the OpenAI Agents SDK. Emphasize that AI augments human decision-making rather than replacing it. Invite questions about the architecture, agents, or future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DAHRe0vX5rU</dc:identifier>
  <dcterms:modified xsi:type="dcterms:W3CDTF">2011-08-01T06:04:30Z</dcterms:modified>
  <cp:revision>1</cp:revision>
  <dc:title>AI-Product-Manager-using-OpenAI-Agents-SDK.pptx</dc:title>
</cp:coreProperties>
</file>